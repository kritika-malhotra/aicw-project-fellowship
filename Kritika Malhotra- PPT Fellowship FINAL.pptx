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7" r:id="rId8"/>
    <p:sldId id="272" r:id="rId9"/>
    <p:sldId id="268" r:id="rId10"/>
    <p:sldId id="269" r:id="rId11"/>
    <p:sldId id="270" r:id="rId12"/>
    <p:sldId id="271" r:id="rId13"/>
    <p:sldId id="262" r:id="rId14"/>
    <p:sldId id="263" r:id="rId15"/>
    <p:sldId id="264" r:id="rId16"/>
    <p:sldId id="265" r:id="rId17"/>
    <p:sldId id="266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7A1E7B9-701C-4670-9D1C-3E843E0B5B22}" v="23" dt="2026-04-13T07:19:58.441"/>
    <p1510:client id="{6ECD64C2-3350-4FCC-9039-C5A063FCDA36}" v="185" dt="2026-04-12T08:38:39.501"/>
    <p1510:client id="{75A588AB-00C1-C0F7-1D34-62BCFAA4DF19}" v="53" dt="2026-04-13T06:46:24.772"/>
    <p1510:client id="{94ABAF2E-83D2-47B4-A4FE-E4BECF1D0A6C}" v="846" dt="2026-04-12T08:31:38.67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50" d="100"/>
          <a:sy n="50" d="100"/>
        </p:scale>
        <p:origin x="-1956" y="-76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06544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1drv.ms/v/c/6a074406e09099cd/IQAwuIcNfzuCTq1Pw86uQbx6AVxIw0Rnmk4Q51Z5hnua670?e=dT6wZG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91440"/>
            <a:ext cx="45720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LinkedIn  </a:t>
            </a:r>
            <a:r>
              <a:rPr lang="en-US" sz="950" err="1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Edunet</a:t>
            </a:r>
            <a:r>
              <a:rPr lang="en-US" sz="95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endParaRPr lang="en-US" sz="950"/>
          </a:p>
        </p:txBody>
      </p:sp>
      <p:sp>
        <p:nvSpPr>
          <p:cNvPr id="5" name="Shape 3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1B3A8A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0" y="0"/>
            <a:ext cx="502920" cy="51435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9" name="Shape 7"/>
          <p:cNvSpPr/>
          <p:nvPr/>
        </p:nvSpPr>
        <p:spPr>
          <a:xfrm>
            <a:off x="6126480" y="3108960"/>
            <a:ext cx="2834640" cy="109728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0" y="3291840"/>
            <a:ext cx="2468880" cy="109728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11" name="Shape 9"/>
          <p:cNvSpPr/>
          <p:nvPr/>
        </p:nvSpPr>
        <p:spPr>
          <a:xfrm>
            <a:off x="6675120" y="3474720"/>
            <a:ext cx="2103120" cy="109728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" y="960120"/>
            <a:ext cx="5029200" cy="1463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IN" sz="2400" b="1">
                <a:solidFill>
                  <a:srgbClr val="1F3863"/>
                </a:solidFill>
                <a:highlight>
                  <a:srgbClr val="FFFFFF"/>
                </a:highlight>
                <a:latin typeface="Arial"/>
                <a:ea typeface="Calibri"/>
                <a:cs typeface="Arial"/>
              </a:rPr>
              <a:t>Assessing Occupational Burnout Among Teachers in </a:t>
            </a:r>
            <a:r>
              <a:rPr lang="en-IN" sz="2400" b="1" err="1">
                <a:solidFill>
                  <a:srgbClr val="1F3863"/>
                </a:solidFill>
                <a:highlight>
                  <a:srgbClr val="FFFFFF"/>
                </a:highlight>
                <a:latin typeface="Arial"/>
                <a:ea typeface="Calibri"/>
                <a:cs typeface="Arial"/>
              </a:rPr>
              <a:t>Lucknow</a:t>
            </a:r>
            <a:r>
              <a:rPr lang="en-IN" sz="2400" b="1">
                <a:solidFill>
                  <a:srgbClr val="1F3863"/>
                </a:solidFill>
                <a:highlight>
                  <a:srgbClr val="FFFFFF"/>
                </a:highlight>
                <a:latin typeface="Arial"/>
                <a:ea typeface="Calibri"/>
                <a:cs typeface="Arial"/>
              </a:rPr>
              <a:t> City</a:t>
            </a:r>
            <a:r>
              <a:rPr lang="en-IN" sz="2400" b="1">
                <a:solidFill>
                  <a:srgbClr val="C55A11"/>
                </a:solidFill>
                <a:highlight>
                  <a:srgbClr val="FFFFFF"/>
                </a:highlight>
                <a:latin typeface="Arial"/>
                <a:ea typeface="Calibri"/>
                <a:cs typeface="Arial"/>
              </a:rPr>
              <a:t> </a:t>
            </a:r>
            <a:endParaRPr lang="en-US" sz="2400">
              <a:solidFill>
                <a:srgbClr val="C55A11"/>
              </a:solidFill>
              <a:highlight>
                <a:srgbClr val="FFFFFF"/>
              </a:highlight>
              <a:latin typeface="Arial"/>
              <a:ea typeface="Calibri"/>
              <a:cs typeface="Arial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320040" y="2578608"/>
            <a:ext cx="3840480" cy="38404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4" name="Shape 12"/>
          <p:cNvSpPr/>
          <p:nvPr/>
        </p:nvSpPr>
        <p:spPr>
          <a:xfrm>
            <a:off x="4160520" y="2578608"/>
            <a:ext cx="274320" cy="384048"/>
          </a:xfrm>
          <a:prstGeom prst="rect">
            <a:avLst/>
          </a:prstGeom>
          <a:solidFill>
            <a:srgbClr val="1B3A8A"/>
          </a:solidFill>
          <a:ln/>
        </p:spPr>
      </p:sp>
      <p:sp>
        <p:nvSpPr>
          <p:cNvPr id="15" name="Text 13"/>
          <p:cNvSpPr/>
          <p:nvPr/>
        </p:nvSpPr>
        <p:spPr>
          <a:xfrm>
            <a:off x="320040" y="257860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R E S E N T A T I O N   2 0 2 6</a:t>
            </a:r>
            <a:endParaRPr lang="en-US" sz="1300"/>
          </a:p>
        </p:txBody>
      </p:sp>
      <p:sp>
        <p:nvSpPr>
          <p:cNvPr id="16" name="Shape 14"/>
          <p:cNvSpPr/>
          <p:nvPr/>
        </p:nvSpPr>
        <p:spPr>
          <a:xfrm>
            <a:off x="320040" y="3611880"/>
            <a:ext cx="411480" cy="411480"/>
          </a:xfrm>
          <a:prstGeom prst="ellipse">
            <a:avLst/>
          </a:prstGeom>
          <a:solidFill>
            <a:srgbClr val="ECEFF1"/>
          </a:solidFill>
          <a:ln w="19050">
            <a:solidFill>
              <a:srgbClr val="1B3A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3621024"/>
            <a:ext cx="4114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000000"/>
                </a:solidFill>
              </a:rPr>
              <a:t>👤</a:t>
            </a:r>
            <a:endParaRPr lang="en-US" sz="1600"/>
          </a:p>
        </p:txBody>
      </p:sp>
      <p:sp>
        <p:nvSpPr>
          <p:cNvPr id="18" name="Text 16"/>
          <p:cNvSpPr/>
          <p:nvPr/>
        </p:nvSpPr>
        <p:spPr>
          <a:xfrm>
            <a:off x="777240" y="361188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</a:t>
            </a:r>
            <a:endParaRPr lang="en-US" sz="900"/>
          </a:p>
        </p:txBody>
      </p:sp>
      <p:sp>
        <p:nvSpPr>
          <p:cNvPr id="19" name="Text 17"/>
          <p:cNvSpPr/>
          <p:nvPr/>
        </p:nvSpPr>
        <p:spPr>
          <a:xfrm>
            <a:off x="777240" y="3794760"/>
            <a:ext cx="1828800" cy="228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100" b="1">
                <a:solidFill>
                  <a:srgbClr val="1B3A8A"/>
                </a:solidFill>
                <a:latin typeface="Calibri"/>
                <a:ea typeface="Calibri"/>
                <a:cs typeface="Calibri"/>
              </a:rPr>
              <a:t>Dr. Kritika Malhotra</a:t>
            </a:r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834640" y="3611880"/>
            <a:ext cx="411480" cy="411480"/>
          </a:xfrm>
          <a:prstGeom prst="ellipse">
            <a:avLst/>
          </a:prstGeom>
          <a:solidFill>
            <a:srgbClr val="ECEFF1"/>
          </a:solidFill>
          <a:ln w="19050">
            <a:solidFill>
              <a:srgbClr val="1B3A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834640" y="3621024"/>
            <a:ext cx="4114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000000"/>
                </a:solidFill>
              </a:rPr>
              <a:t>✉</a:t>
            </a:r>
            <a:endParaRPr lang="en-US" sz="1600"/>
          </a:p>
        </p:txBody>
      </p:sp>
      <p:sp>
        <p:nvSpPr>
          <p:cNvPr id="22" name="Text 20"/>
          <p:cNvSpPr/>
          <p:nvPr/>
        </p:nvSpPr>
        <p:spPr>
          <a:xfrm>
            <a:off x="3291840" y="361188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Email</a:t>
            </a:r>
            <a:endParaRPr lang="en-US" sz="900"/>
          </a:p>
        </p:txBody>
      </p:sp>
      <p:sp>
        <p:nvSpPr>
          <p:cNvPr id="23" name="Text 21"/>
          <p:cNvSpPr/>
          <p:nvPr/>
        </p:nvSpPr>
        <p:spPr>
          <a:xfrm>
            <a:off x="3291840" y="3794760"/>
            <a:ext cx="1828800" cy="228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B3A8A"/>
                </a:solidFill>
                <a:latin typeface="Calibri"/>
                <a:ea typeface="Calibri"/>
                <a:cs typeface="Calibri"/>
              </a:rPr>
              <a:t>Drkritika.nationalpgcollege@npgc.in</a:t>
            </a:r>
            <a:endParaRPr lang="en-US" sz="1100"/>
          </a:p>
        </p:txBody>
      </p:sp>
      <p:sp>
        <p:nvSpPr>
          <p:cNvPr id="24" name="Shape 22"/>
          <p:cNvSpPr/>
          <p:nvPr/>
        </p:nvSpPr>
        <p:spPr>
          <a:xfrm>
            <a:off x="277722" y="4384041"/>
            <a:ext cx="411480" cy="411480"/>
          </a:xfrm>
          <a:prstGeom prst="ellipse">
            <a:avLst/>
          </a:prstGeom>
          <a:solidFill>
            <a:srgbClr val="ECEFF1"/>
          </a:solidFill>
          <a:ln w="19050">
            <a:solidFill>
              <a:srgbClr val="1B3A8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7722" y="4393185"/>
            <a:ext cx="4114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000000"/>
                </a:solidFill>
              </a:rPr>
              <a:t>📖</a:t>
            </a:r>
            <a:endParaRPr lang="en-US" sz="1600"/>
          </a:p>
        </p:txBody>
      </p:sp>
      <p:sp>
        <p:nvSpPr>
          <p:cNvPr id="27" name="Text 25"/>
          <p:cNvSpPr/>
          <p:nvPr/>
        </p:nvSpPr>
        <p:spPr>
          <a:xfrm>
            <a:off x="782333" y="4478866"/>
            <a:ext cx="1828800" cy="228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100" b="1">
                <a:solidFill>
                  <a:srgbClr val="1B3A8A"/>
                </a:solidFill>
                <a:ea typeface="Calibri"/>
                <a:cs typeface="Calibri"/>
              </a:rPr>
              <a:t>Umamaheshwari R</a:t>
            </a:r>
          </a:p>
        </p:txBody>
      </p:sp>
      <p:sp>
        <p:nvSpPr>
          <p:cNvPr id="28" name="Shape 26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B3A8A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8A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0" y="4572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edunet</a:t>
            </a:r>
            <a:endParaRPr lang="en-US" sz="800"/>
          </a:p>
          <a:p>
            <a:pPr marL="0" indent="0" algn="r">
              <a:buNone/>
            </a:pPr>
            <a:r>
              <a:rPr lang="en-US" sz="800" b="1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800"/>
          </a:p>
        </p:txBody>
      </p:sp>
      <p:sp>
        <p:nvSpPr>
          <p:cNvPr id="4" name="Text 2"/>
          <p:cNvSpPr/>
          <p:nvPr/>
        </p:nvSpPr>
        <p:spPr>
          <a:xfrm>
            <a:off x="320040" y="62179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OUTLINE</a:t>
            </a:r>
            <a:endParaRPr lang="en-US" sz="220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B3A8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34440"/>
            <a:ext cx="4389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3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of the Project</a:t>
            </a:r>
            <a:endParaRPr lang="en-US" sz="1300"/>
          </a:p>
        </p:txBody>
      </p:sp>
      <p:sp>
        <p:nvSpPr>
          <p:cNvPr id="7" name="Text 5"/>
          <p:cNvSpPr/>
          <p:nvPr/>
        </p:nvSpPr>
        <p:spPr>
          <a:xfrm>
            <a:off x="457200" y="1664208"/>
            <a:ext cx="4389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3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300"/>
          </a:p>
        </p:txBody>
      </p:sp>
      <p:sp>
        <p:nvSpPr>
          <p:cNvPr id="8" name="Text 6"/>
          <p:cNvSpPr/>
          <p:nvPr/>
        </p:nvSpPr>
        <p:spPr>
          <a:xfrm>
            <a:off x="457200" y="2093976"/>
            <a:ext cx="4389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3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1300"/>
          </a:p>
        </p:txBody>
      </p:sp>
      <p:sp>
        <p:nvSpPr>
          <p:cNvPr id="9" name="Text 7"/>
          <p:cNvSpPr/>
          <p:nvPr/>
        </p:nvSpPr>
        <p:spPr>
          <a:xfrm>
            <a:off x="457200" y="2523744"/>
            <a:ext cx="4389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3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300"/>
          </a:p>
        </p:txBody>
      </p:sp>
      <p:sp>
        <p:nvSpPr>
          <p:cNvPr id="10" name="Text 8"/>
          <p:cNvSpPr/>
          <p:nvPr/>
        </p:nvSpPr>
        <p:spPr>
          <a:xfrm>
            <a:off x="457200" y="2953512"/>
            <a:ext cx="4389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3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of the Project</a:t>
            </a:r>
            <a:endParaRPr lang="en-US" sz="1300"/>
          </a:p>
        </p:txBody>
      </p:sp>
      <p:sp>
        <p:nvSpPr>
          <p:cNvPr id="11" name="Text 9"/>
          <p:cNvSpPr/>
          <p:nvPr/>
        </p:nvSpPr>
        <p:spPr>
          <a:xfrm>
            <a:off x="457200" y="3383280"/>
            <a:ext cx="4389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3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Video of Project</a:t>
            </a:r>
            <a:endParaRPr lang="en-US" sz="1300"/>
          </a:p>
        </p:txBody>
      </p:sp>
      <p:sp>
        <p:nvSpPr>
          <p:cNvPr id="12" name="Text 10"/>
          <p:cNvSpPr/>
          <p:nvPr/>
        </p:nvSpPr>
        <p:spPr>
          <a:xfrm>
            <a:off x="457200" y="3813048"/>
            <a:ext cx="4389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3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/>
          </a:p>
        </p:txBody>
      </p:sp>
      <p:sp>
        <p:nvSpPr>
          <p:cNvPr id="13" name="Text 11"/>
          <p:cNvSpPr/>
          <p:nvPr/>
        </p:nvSpPr>
        <p:spPr>
          <a:xfrm>
            <a:off x="457200" y="4242816"/>
            <a:ext cx="4389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3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3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8A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0" y="4572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edunet</a:t>
            </a:r>
            <a:endParaRPr lang="en-US" sz="800"/>
          </a:p>
          <a:p>
            <a:pPr marL="0" indent="0" algn="r">
              <a:buNone/>
            </a:pPr>
            <a:r>
              <a:rPr lang="en-US" sz="800" b="1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800"/>
          </a:p>
        </p:txBody>
      </p:sp>
      <p:sp>
        <p:nvSpPr>
          <p:cNvPr id="4" name="Text 2"/>
          <p:cNvSpPr/>
          <p:nvPr/>
        </p:nvSpPr>
        <p:spPr>
          <a:xfrm>
            <a:off x="320040" y="62179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220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B3A8A"/>
          </a:solidFill>
          <a:ln/>
        </p:spPr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B589379F-EE5D-C593-AC4C-F758AE30079C}"/>
              </a:ext>
            </a:extLst>
          </p:cNvPr>
          <p:cNvSpPr txBox="1"/>
          <p:nvPr/>
        </p:nvSpPr>
        <p:spPr>
          <a:xfrm>
            <a:off x="161745" y="1051344"/>
            <a:ext cx="6351199" cy="37240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 algn="just">
              <a:buFont typeface=""/>
              <a:buChar char="•"/>
            </a:pPr>
            <a:r>
              <a:rPr lang="en-US" sz="160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quote-cjk-patch"/>
                <a:cs typeface="Times New Roman"/>
              </a:rPr>
              <a:t>This project assesses occupational burnout among 54 teachers in </a:t>
            </a:r>
            <a:r>
              <a:rPr lang="en-US" sz="160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quote-cjk-patch"/>
                <a:cs typeface="Times New Roman"/>
              </a:rPr>
              <a:t>Lucknow</a:t>
            </a:r>
            <a:r>
              <a:rPr lang="en-US" sz="160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quote-cjk-patch"/>
                <a:cs typeface="Times New Roman"/>
              </a:rPr>
              <a:t> City using a multidimensional, data-driven approach.</a:t>
            </a:r>
          </a:p>
          <a:p>
            <a:pPr marL="228600" indent="-228600" algn="just">
              <a:buFont typeface=""/>
              <a:buChar char="•"/>
            </a:pPr>
            <a:r>
              <a:rPr lang="en-US" sz="160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quote-cjk-patch"/>
                <a:cs typeface="Times New Roman"/>
              </a:rPr>
              <a:t>The objective is to identify burnout patterns across academic streams and provide evidence-based recommendations for institutional interventions.</a:t>
            </a:r>
          </a:p>
          <a:p>
            <a:pPr marL="228600" indent="-228600" algn="just">
              <a:buFont typeface=""/>
              <a:buChar char="•"/>
            </a:pPr>
            <a:r>
              <a:rPr lang="en-US" sz="160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quote-cjk-patch"/>
                <a:cs typeface="Times New Roman"/>
              </a:rPr>
              <a:t>Tools and technologies used include the Burnout Assessment Tool (BAT), WHO-5 Well-Being Index, Microsoft Excel, IBM SPSS, Power BI, and Microsoft Copilot and MS Copilot Studio.</a:t>
            </a:r>
          </a:p>
          <a:p>
            <a:pPr marL="228600" indent="-228600" algn="just">
              <a:buFont typeface=""/>
              <a:buChar char="•"/>
            </a:pPr>
            <a:r>
              <a:rPr lang="en-US" sz="160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quote-cjk-patch"/>
                <a:cs typeface="Times New Roman"/>
              </a:rPr>
              <a:t>Expected outcomes include identification of high-risk groups, comparative analysis across streams, and a scalable framework for burnout monitoring.</a:t>
            </a:r>
          </a:p>
          <a:p>
            <a:pPr marL="228600" indent="-228600" algn="just">
              <a:buFont typeface=""/>
              <a:buChar char="•"/>
            </a:pPr>
            <a:r>
              <a:rPr lang="en-US" sz="160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quote-cjk-patch"/>
                <a:cs typeface="Times New Roman"/>
              </a:rPr>
              <a:t>Key highlights include significant findings on mental distress, psychosomatic complaints and cognitive impairment, integration of AI for analysis, and a focus on the Indian higher education context.</a:t>
            </a:r>
          </a:p>
          <a:p>
            <a:pPr algn="ctr"/>
            <a:endParaRPr lang="en-US" sz="1200">
              <a:solidFill>
                <a:schemeClr val="tx1">
                  <a:lumMod val="95000"/>
                  <a:lumOff val="5000"/>
                </a:schemeClr>
              </a:solidFill>
              <a:latin typeface="Times New Roman"/>
              <a:ea typeface="Calibri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8A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0" y="4572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edunet</a:t>
            </a:r>
            <a:endParaRPr lang="en-US" sz="800"/>
          </a:p>
          <a:p>
            <a:pPr marL="0" indent="0" algn="r">
              <a:buNone/>
            </a:pPr>
            <a:r>
              <a:rPr lang="en-US" sz="800" b="1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800"/>
          </a:p>
        </p:txBody>
      </p:sp>
      <p:sp>
        <p:nvSpPr>
          <p:cNvPr id="4" name="Text 2"/>
          <p:cNvSpPr/>
          <p:nvPr/>
        </p:nvSpPr>
        <p:spPr>
          <a:xfrm>
            <a:off x="320040" y="62179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20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B3A8A"/>
          </a:solidFill>
          <a:ln/>
        </p:spPr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A440500A-934A-94D1-100B-CDE66533946B}"/>
              </a:ext>
            </a:extLst>
          </p:cNvPr>
          <p:cNvSpPr txBox="1"/>
          <p:nvPr/>
        </p:nvSpPr>
        <p:spPr>
          <a:xfrm>
            <a:off x="323491" y="1288571"/>
            <a:ext cx="6955047" cy="25853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 algn="just">
              <a:buFont typeface=""/>
              <a:buChar char="•"/>
            </a:pPr>
            <a:r>
              <a:rPr lang="en-US" sz="160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quote-cjk-patch"/>
                <a:cs typeface="Times New Roman"/>
              </a:rPr>
              <a:t>The core problem is the absence of a structured, standardized mechanism to assess occupational burnout among teachers across multiple academic streams in Indian higher education institutions.</a:t>
            </a:r>
          </a:p>
          <a:p>
            <a:pPr marL="228600" indent="-228600" algn="just">
              <a:buFont typeface=""/>
              <a:buChar char="•"/>
            </a:pPr>
            <a:r>
              <a:rPr lang="en-US" sz="160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quote-cjk-patch"/>
                <a:cs typeface="Times New Roman"/>
              </a:rPr>
              <a:t>This problem is significant because unmeasured burnout leads to undetected faculty distress, declining teaching quality, increased absenteeism, and higher attrition rates, ultimately damaging institutional reputation.</a:t>
            </a:r>
          </a:p>
          <a:p>
            <a:pPr marL="228600" indent="-228600" algn="just">
              <a:buFont typeface=""/>
              <a:buChar char="•"/>
            </a:pPr>
            <a:r>
              <a:rPr lang="en-US" sz="160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quote-cjk-patch"/>
                <a:cs typeface="Times New Roman"/>
              </a:rPr>
              <a:t>Target users affected include faculty members across all streams (Science, Humanities, Commerce), institutional administrators, and policymakers responsible for faculty welfare and retention.</a:t>
            </a:r>
          </a:p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8A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0" y="4572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edunet</a:t>
            </a:r>
            <a:endParaRPr lang="en-US" sz="800"/>
          </a:p>
          <a:p>
            <a:pPr marL="0" indent="0" algn="r">
              <a:buNone/>
            </a:pPr>
            <a:r>
              <a:rPr lang="en-US" sz="800" b="1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800"/>
          </a:p>
        </p:txBody>
      </p:sp>
      <p:sp>
        <p:nvSpPr>
          <p:cNvPr id="4" name="Text 2"/>
          <p:cNvSpPr/>
          <p:nvPr/>
        </p:nvSpPr>
        <p:spPr>
          <a:xfrm>
            <a:off x="320040" y="62179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220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B3A8A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1266789"/>
            <a:ext cx="8082950" cy="344237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285750" indent="-285750" algn="just">
              <a:buFont typeface="Arial"/>
              <a:buChar char="•"/>
            </a:pPr>
            <a:r>
              <a:rPr lang="en-US" sz="1400">
                <a:solidFill>
                  <a:srgbClr val="1A1A2E"/>
                </a:solidFill>
                <a:latin typeface="Times New Roman"/>
                <a:ea typeface="+mn-lt"/>
                <a:cs typeface="Times New Roman"/>
              </a:rPr>
              <a:t>The proposed solution is a structured, data-driven burnout assessment framework using the Burnout Assessment Tool (BAT) to measure both core and secondary dimensions of teacher burnout across academic streams and measuring faculty well-being through WHO Well-Being Index.</a:t>
            </a:r>
          </a:p>
          <a:p>
            <a:pPr algn="just"/>
            <a:endParaRPr lang="en-US">
              <a:ea typeface="Calibri" panose="020F0502020204030204"/>
              <a:cs typeface="Calibri" panose="020F0502020204030204"/>
            </a:endParaRPr>
          </a:p>
          <a:p>
            <a:pPr marL="285750" indent="-285750" algn="just">
              <a:buFont typeface="Arial"/>
              <a:buChar char="•"/>
            </a:pPr>
            <a:r>
              <a:rPr lang="en-US" sz="1400">
                <a:solidFill>
                  <a:srgbClr val="1A1A2E"/>
                </a:solidFill>
                <a:latin typeface="Times New Roman"/>
                <a:ea typeface="+mn-lt"/>
                <a:cs typeface="Times New Roman"/>
              </a:rPr>
              <a:t>This approach solves the identified problem by providing standardized measurement, comparative analysis across departments, and objective evidence of burnout for faculty appraisals and institutional support.</a:t>
            </a:r>
          </a:p>
          <a:p>
            <a:pPr algn="just"/>
            <a:endParaRPr lang="en-US" sz="1400">
              <a:solidFill>
                <a:srgbClr val="1A1A2E"/>
              </a:solidFill>
              <a:latin typeface="Times New Roman"/>
              <a:ea typeface="+mn-lt"/>
              <a:cs typeface="Times New Roman"/>
            </a:endParaRPr>
          </a:p>
          <a:p>
            <a:pPr marL="285750" indent="-285750" algn="just">
              <a:buFont typeface="Arial"/>
              <a:buChar char="•"/>
            </a:pPr>
            <a:r>
              <a:rPr lang="en-US" sz="1400">
                <a:solidFill>
                  <a:srgbClr val="1A1A2E"/>
                </a:solidFill>
                <a:latin typeface="Times New Roman"/>
                <a:ea typeface="+mn-lt"/>
                <a:cs typeface="Times New Roman"/>
              </a:rPr>
              <a:t>Methodology includes cross-sectional quantitative design data collection via Google Forms (68 responses, cleaned to 54), reliability testing (Cronbach's Alpha = 0.82), correlation analysis, and ANOVA to compare burnout across streams.</a:t>
            </a:r>
          </a:p>
          <a:p>
            <a:pPr algn="just"/>
            <a:endParaRPr lang="en-US">
              <a:solidFill>
                <a:srgbClr val="000000"/>
              </a:solidFill>
              <a:latin typeface="Calibri" panose="020F0502020204030204"/>
              <a:ea typeface="+mn-lt"/>
              <a:cs typeface="Calibri" panose="020F0502020204030204"/>
            </a:endParaRPr>
          </a:p>
          <a:p>
            <a:pPr marL="285750" indent="-285750" algn="just">
              <a:buFont typeface="Arial"/>
              <a:buChar char="•"/>
            </a:pPr>
            <a:r>
              <a:rPr lang="en-US" sz="1400">
                <a:solidFill>
                  <a:srgbClr val="1A1A2E"/>
                </a:solidFill>
                <a:latin typeface="Times New Roman"/>
                <a:ea typeface="+mn-lt"/>
                <a:cs typeface="Times New Roman"/>
              </a:rPr>
              <a:t>Key benefits include multidimensional burnout measurement (exhaustion, mental distance, emotional impairment, cognitive impairment, psychosomatic symptoms), identification of high-risk streams (Humanities and Commerce), and actionable recommendations for workload rationalization and wellness programs.</a:t>
            </a:r>
          </a:p>
          <a:p>
            <a:pPr marL="285750" indent="-285750">
              <a:buFont typeface="Arial"/>
              <a:buChar char="•"/>
            </a:pPr>
            <a:endParaRPr lang="en-US">
              <a:ea typeface="Calibri" panose="020F0502020204030204"/>
              <a:cs typeface="Calibri" panose="020F0502020204030204"/>
            </a:endParaRPr>
          </a:p>
          <a:p>
            <a:r>
              <a:rPr lang="en-US"/>
              <a:t/>
            </a:r>
            <a:br>
              <a:rPr lang="en-US"/>
            </a:br>
            <a:r>
              <a:rPr lang="en-US"/>
              <a:t/>
            </a:r>
            <a:br>
              <a:rPr lang="en-US"/>
            </a:br>
            <a:endParaRPr lang="en-US">
              <a:ea typeface="Calibri" panose="020F0502020204030204"/>
              <a:cs typeface="Calibri" panose="020F0502020204030204"/>
            </a:endParaRPr>
          </a:p>
          <a:p>
            <a:endParaRPr lang="en-US" sz="1300">
              <a:solidFill>
                <a:srgbClr val="1A1A2E"/>
              </a:solidFill>
              <a:ea typeface="Calibri"/>
              <a:cs typeface="Calibri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846320" y="1280160"/>
            <a:ext cx="39319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8A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0" y="4572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edunet</a:t>
            </a:r>
            <a:endParaRPr lang="en-US" sz="800"/>
          </a:p>
          <a:p>
            <a:pPr marL="0" indent="0" algn="r">
              <a:buNone/>
            </a:pPr>
            <a:r>
              <a:rPr lang="en-US" sz="800" b="1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800"/>
          </a:p>
        </p:txBody>
      </p:sp>
      <p:sp>
        <p:nvSpPr>
          <p:cNvPr id="4" name="Text 2"/>
          <p:cNvSpPr/>
          <p:nvPr/>
        </p:nvSpPr>
        <p:spPr>
          <a:xfrm>
            <a:off x="320040" y="62179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20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B3A8A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097280"/>
            <a:ext cx="4114800" cy="38404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7" name="Shape 5"/>
          <p:cNvSpPr/>
          <p:nvPr/>
        </p:nvSpPr>
        <p:spPr>
          <a:xfrm>
            <a:off x="4206240" y="1097280"/>
            <a:ext cx="320040" cy="384048"/>
          </a:xfrm>
          <a:prstGeom prst="rect">
            <a:avLst/>
          </a:prstGeom>
          <a:solidFill>
            <a:srgbClr val="1B3A8A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133856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Input / Source</a:t>
            </a:r>
            <a:endParaRPr lang="en-US" sz="1200"/>
          </a:p>
        </p:txBody>
      </p:sp>
      <p:sp>
        <p:nvSpPr>
          <p:cNvPr id="9" name="Text 7"/>
          <p:cNvSpPr/>
          <p:nvPr/>
        </p:nvSpPr>
        <p:spPr>
          <a:xfrm>
            <a:off x="365760" y="1554480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/>
            <a:r>
              <a:rPr lang="en-US" sz="1200"/>
              <a:t>Data was collected through a </a:t>
            </a:r>
            <a:r>
              <a:rPr lang="en-US" sz="1200" b="1"/>
              <a:t>Google Forms questionnaire</a:t>
            </a:r>
            <a:r>
              <a:rPr lang="en-US" sz="1200"/>
              <a:t> from teachers. This project uses </a:t>
            </a:r>
            <a:r>
              <a:rPr lang="en-US" sz="1200" b="1"/>
              <a:t>manually collected survey data</a:t>
            </a:r>
            <a:r>
              <a:rPr lang="en-US" sz="1200"/>
              <a:t> without any external APIs or databases.</a:t>
            </a:r>
            <a:endParaRPr lang="en-US" sz="1150"/>
          </a:p>
        </p:txBody>
      </p:sp>
      <p:sp>
        <p:nvSpPr>
          <p:cNvPr id="10" name="Shape 8"/>
          <p:cNvSpPr/>
          <p:nvPr/>
        </p:nvSpPr>
        <p:spPr>
          <a:xfrm>
            <a:off x="4709160" y="1097280"/>
            <a:ext cx="4114800" cy="38404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1" name="Shape 9"/>
          <p:cNvSpPr/>
          <p:nvPr/>
        </p:nvSpPr>
        <p:spPr>
          <a:xfrm>
            <a:off x="8641080" y="1097280"/>
            <a:ext cx="320040" cy="384048"/>
          </a:xfrm>
          <a:prstGeom prst="rect">
            <a:avLst/>
          </a:prstGeom>
          <a:solidFill>
            <a:srgbClr val="1B3A8A"/>
          </a:solidFill>
          <a:ln/>
        </p:spPr>
      </p:sp>
      <p:sp>
        <p:nvSpPr>
          <p:cNvPr id="12" name="Text 10"/>
          <p:cNvSpPr/>
          <p:nvPr/>
        </p:nvSpPr>
        <p:spPr>
          <a:xfrm>
            <a:off x="4800600" y="1133856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/ Analysis</a:t>
            </a:r>
            <a:endParaRPr lang="en-US" sz="1200"/>
          </a:p>
        </p:txBody>
      </p:sp>
      <p:sp>
        <p:nvSpPr>
          <p:cNvPr id="13" name="Text 11"/>
          <p:cNvSpPr/>
          <p:nvPr/>
        </p:nvSpPr>
        <p:spPr>
          <a:xfrm>
            <a:off x="4709160" y="1554480"/>
            <a:ext cx="42519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/>
            <a:r>
              <a:rPr lang="en-US" sz="1200"/>
              <a:t>Cleaned the data using </a:t>
            </a:r>
            <a:r>
              <a:rPr lang="en-US" sz="1200" b="1"/>
              <a:t>Microsoft Excel</a:t>
            </a:r>
            <a:r>
              <a:rPr lang="en-US" sz="1200"/>
              <a:t>- removed duplicates, handled missing values, and standardized the responses into numerical format. Transformed the data- organized variables and calculated scores for BAT dimensions. Further analysis was performed using </a:t>
            </a:r>
            <a:r>
              <a:rPr lang="en-US" sz="1200" b="1"/>
              <a:t>SPSS</a:t>
            </a:r>
            <a:r>
              <a:rPr lang="en-US" sz="1200"/>
              <a:t> (</a:t>
            </a:r>
            <a:r>
              <a:rPr lang="en-US" sz="1200" err="1"/>
              <a:t>Cronbach’s</a:t>
            </a:r>
            <a:r>
              <a:rPr lang="en-US" sz="1200"/>
              <a:t> Alpha, correlation, ANOVA), along with </a:t>
            </a:r>
            <a:r>
              <a:rPr lang="en-US" sz="1200" b="1"/>
              <a:t>Power BI</a:t>
            </a:r>
            <a:r>
              <a:rPr lang="en-US" sz="1200"/>
              <a:t> for visualization and </a:t>
            </a:r>
            <a:r>
              <a:rPr lang="en-US" sz="1200" b="1"/>
              <a:t>Copilot</a:t>
            </a:r>
            <a:r>
              <a:rPr lang="en-US" sz="1200"/>
              <a:t> for insights and reporting.</a:t>
            </a:r>
            <a:endParaRPr lang="en-US" sz="1150"/>
          </a:p>
        </p:txBody>
      </p:sp>
      <p:sp>
        <p:nvSpPr>
          <p:cNvPr id="14" name="Shape 12"/>
          <p:cNvSpPr/>
          <p:nvPr/>
        </p:nvSpPr>
        <p:spPr>
          <a:xfrm>
            <a:off x="274320" y="2926080"/>
            <a:ext cx="4114800" cy="38404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5" name="Shape 13"/>
          <p:cNvSpPr/>
          <p:nvPr/>
        </p:nvSpPr>
        <p:spPr>
          <a:xfrm>
            <a:off x="4206240" y="2926080"/>
            <a:ext cx="320040" cy="384048"/>
          </a:xfrm>
          <a:prstGeom prst="rect">
            <a:avLst/>
          </a:prstGeom>
          <a:solidFill>
            <a:srgbClr val="1B3A8A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2962656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Tool Integration</a:t>
            </a:r>
            <a:endParaRPr lang="en-US" sz="1200"/>
          </a:p>
        </p:txBody>
      </p:sp>
      <p:sp>
        <p:nvSpPr>
          <p:cNvPr id="17" name="Text 15"/>
          <p:cNvSpPr/>
          <p:nvPr/>
        </p:nvSpPr>
        <p:spPr>
          <a:xfrm>
            <a:off x="365760" y="3383280"/>
            <a:ext cx="4023360" cy="13220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/>
            <a:r>
              <a:rPr lang="en-US" sz="1200" b="1"/>
              <a:t>Microsoft Excel </a:t>
            </a:r>
            <a:r>
              <a:rPr lang="en-US" sz="1200"/>
              <a:t>for data cleaning, coding, and initial analysis. </a:t>
            </a:r>
            <a:r>
              <a:rPr lang="en-US" sz="1200" b="1"/>
              <a:t>IBM SPSS </a:t>
            </a:r>
            <a:r>
              <a:rPr lang="en-US" sz="1200"/>
              <a:t>for integrated and advanced statistical analysis such as reliability testing, correlation, and ANOVA. </a:t>
            </a:r>
            <a:r>
              <a:rPr lang="en-US" sz="1200" b="1"/>
              <a:t>Power BI </a:t>
            </a:r>
            <a:r>
              <a:rPr lang="en-US" sz="1200"/>
              <a:t>used to create interactive dashboards and visualizations, while </a:t>
            </a:r>
            <a:r>
              <a:rPr lang="en-US" sz="1200" b="1"/>
              <a:t>Microsoft Copilot </a:t>
            </a:r>
            <a:r>
              <a:rPr lang="en-US" sz="1200"/>
              <a:t>and </a:t>
            </a:r>
            <a:r>
              <a:rPr lang="en-US" sz="1200" b="1"/>
              <a:t>AI </a:t>
            </a:r>
            <a:r>
              <a:rPr lang="en-US" sz="1200" b="1" err="1"/>
              <a:t>chatbots</a:t>
            </a:r>
            <a:r>
              <a:rPr lang="en-US" sz="1200" b="1"/>
              <a:t> </a:t>
            </a:r>
            <a:r>
              <a:rPr lang="en-US" sz="1200"/>
              <a:t>used for generating insights, interpretations, and report content</a:t>
            </a:r>
            <a:endParaRPr lang="en-US" sz="1150"/>
          </a:p>
        </p:txBody>
      </p:sp>
      <p:sp>
        <p:nvSpPr>
          <p:cNvPr id="18" name="Shape 16"/>
          <p:cNvSpPr/>
          <p:nvPr/>
        </p:nvSpPr>
        <p:spPr>
          <a:xfrm>
            <a:off x="4709160" y="2926080"/>
            <a:ext cx="4114800" cy="38404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9" name="Shape 17"/>
          <p:cNvSpPr/>
          <p:nvPr/>
        </p:nvSpPr>
        <p:spPr>
          <a:xfrm>
            <a:off x="8641080" y="2926080"/>
            <a:ext cx="320040" cy="384048"/>
          </a:xfrm>
          <a:prstGeom prst="rect">
            <a:avLst/>
          </a:prstGeom>
          <a:solidFill>
            <a:srgbClr val="1B3A8A"/>
          </a:solidFill>
          <a:ln/>
        </p:spPr>
      </p:sp>
      <p:sp>
        <p:nvSpPr>
          <p:cNvPr id="20" name="Text 18"/>
          <p:cNvSpPr/>
          <p:nvPr/>
        </p:nvSpPr>
        <p:spPr>
          <a:xfrm>
            <a:off x="4800600" y="2962656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/ Dashboard</a:t>
            </a:r>
            <a:endParaRPr lang="en-US" sz="1200"/>
          </a:p>
        </p:txBody>
      </p:sp>
      <p:sp>
        <p:nvSpPr>
          <p:cNvPr id="21" name="Text 19"/>
          <p:cNvSpPr/>
          <p:nvPr/>
        </p:nvSpPr>
        <p:spPr>
          <a:xfrm>
            <a:off x="4800600" y="3383280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/>
            <a:r>
              <a:rPr lang="en-US" sz="1200"/>
              <a:t>The final output includes a </a:t>
            </a:r>
            <a:r>
              <a:rPr lang="en-US" sz="1200" b="1"/>
              <a:t>detailed analytical report</a:t>
            </a:r>
            <a:r>
              <a:rPr lang="en-US" sz="1200"/>
              <a:t>, along with </a:t>
            </a:r>
            <a:r>
              <a:rPr lang="en-US" sz="1200" b="1"/>
              <a:t>interactive dashboards and charts</a:t>
            </a:r>
            <a:r>
              <a:rPr lang="en-US" sz="1200"/>
              <a:t> created using Power BI. It represents burnout patterns, statistical results, and insights in a clear and visual format for better understanding and quality decision-making. </a:t>
            </a:r>
            <a:endParaRPr lang="en-US" sz="115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xmlns="" id="{370DCCBC-588C-58FD-DC0A-BA683DA8A0C2}"/>
              </a:ext>
            </a:extLst>
          </p:cNvPr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8A"/>
          </a:solidFill>
          <a:ln/>
        </p:spPr>
      </p:sp>
      <p:sp>
        <p:nvSpPr>
          <p:cNvPr id="5" name="Text 1">
            <a:extLst>
              <a:ext uri="{FF2B5EF4-FFF2-40B4-BE49-F238E27FC236}">
                <a16:creationId xmlns:a16="http://schemas.microsoft.com/office/drawing/2014/main" xmlns="" id="{3B1B9D33-FA9A-BC92-CF95-27569E5E760D}"/>
              </a:ext>
            </a:extLst>
          </p:cNvPr>
          <p:cNvSpPr/>
          <p:nvPr/>
        </p:nvSpPr>
        <p:spPr>
          <a:xfrm>
            <a:off x="7772400" y="4572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edunet</a:t>
            </a:r>
            <a:endParaRPr lang="en-US" sz="800"/>
          </a:p>
          <a:p>
            <a:pPr marL="0" indent="0" algn="r">
              <a:buNone/>
            </a:pPr>
            <a:r>
              <a:rPr lang="en-US" sz="800" b="1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8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9CF18031-1CF1-4804-6CE3-CF6660D1AF79}"/>
              </a:ext>
            </a:extLst>
          </p:cNvPr>
          <p:cNvSpPr txBox="1"/>
          <p:nvPr/>
        </p:nvSpPr>
        <p:spPr>
          <a:xfrm>
            <a:off x="1592514" y="570711"/>
            <a:ext cx="5599523" cy="4001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b="1">
                <a:ea typeface="+mn-lt"/>
                <a:cs typeface="+mn-lt"/>
              </a:rPr>
              <a:t>Reliability Analysis (Cronbach’s Alpha)</a:t>
            </a:r>
            <a:endParaRPr lang="en-US" b="1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4CB57F90-7FB0-8307-4861-A03E2E59417D}"/>
              </a:ext>
            </a:extLst>
          </p:cNvPr>
          <p:cNvSpPr txBox="1"/>
          <p:nvPr/>
        </p:nvSpPr>
        <p:spPr>
          <a:xfrm>
            <a:off x="1078302" y="1417967"/>
            <a:ext cx="7224622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>
                <a:latin typeface="Times New Roman"/>
                <a:cs typeface="Times New Roman"/>
              </a:rPr>
              <a:t>The overall </a:t>
            </a:r>
            <a:r>
              <a:rPr lang="en-US" b="1">
                <a:latin typeface="Times New Roman"/>
                <a:cs typeface="Times New Roman"/>
              </a:rPr>
              <a:t>Burnout Assessment Tool (BAT) showed good reliability (α = 0.82) Core dimensions (BAT-C) and secondary dimensions (BAT-S) showed excellent reliability (α &gt; 0.90) </a:t>
            </a:r>
            <a:r>
              <a:rPr lang="en-US">
                <a:latin typeface="Times New Roman"/>
                <a:cs typeface="Times New Roman"/>
              </a:rPr>
              <a:t>This indicate that the instrument is consistent and reliable for measuring burnout among </a:t>
            </a:r>
            <a:r>
              <a:rPr lang="en-US" err="1">
                <a:latin typeface="Times New Roman"/>
                <a:cs typeface="Times New Roman"/>
              </a:rPr>
              <a:t>teachers</a:t>
            </a:r>
            <a:r>
              <a:rPr lang="en-US" b="1" err="1">
                <a:latin typeface="Times New Roman"/>
                <a:cs typeface="Times New Roman"/>
              </a:rPr>
              <a:t>.</a:t>
            </a:r>
            <a:r>
              <a:rPr lang="en-US" b="1" err="1">
                <a:latin typeface="Times New Roman"/>
                <a:ea typeface="+mn-lt"/>
                <a:cs typeface="Times New Roman"/>
              </a:rPr>
              <a:t>The</a:t>
            </a:r>
            <a:r>
              <a:rPr lang="en-US" b="1">
                <a:latin typeface="Times New Roman"/>
                <a:ea typeface="+mn-lt"/>
                <a:cs typeface="Times New Roman"/>
              </a:rPr>
              <a:t> dataset is statistically sound and suitable for further analysis</a:t>
            </a:r>
            <a:r>
              <a:rPr lang="en-US">
                <a:latin typeface="Times New Roman"/>
                <a:ea typeface="+mn-lt"/>
                <a:cs typeface="Times New Roman"/>
              </a:rPr>
              <a:t>.</a:t>
            </a:r>
            <a:endParaRPr lang="en-US">
              <a:latin typeface="Times New Roman"/>
              <a:cs typeface="Times New Roman"/>
            </a:endParaRP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8096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70279CEA-6480-BD92-7767-5C09A9AB59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xmlns="" id="{C68B54AF-6D73-1AD4-DB29-013755A197AF}"/>
              </a:ext>
            </a:extLst>
          </p:cNvPr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8A"/>
          </a:solidFill>
          <a:ln/>
        </p:spPr>
      </p:sp>
      <p:sp>
        <p:nvSpPr>
          <p:cNvPr id="5" name="Text 1">
            <a:extLst>
              <a:ext uri="{FF2B5EF4-FFF2-40B4-BE49-F238E27FC236}">
                <a16:creationId xmlns:a16="http://schemas.microsoft.com/office/drawing/2014/main" xmlns="" id="{CF85AD14-2758-B2C7-2391-20DE0A0EFFEF}"/>
              </a:ext>
            </a:extLst>
          </p:cNvPr>
          <p:cNvSpPr/>
          <p:nvPr/>
        </p:nvSpPr>
        <p:spPr>
          <a:xfrm>
            <a:off x="7772400" y="4572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edunet</a:t>
            </a:r>
            <a:endParaRPr lang="en-US" sz="800"/>
          </a:p>
          <a:p>
            <a:pPr marL="0" indent="0" algn="r">
              <a:buNone/>
            </a:pPr>
            <a:r>
              <a:rPr lang="en-US" sz="800" b="1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8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761E82FD-8A51-CABA-1384-3109368FBE49}"/>
              </a:ext>
            </a:extLst>
          </p:cNvPr>
          <p:cNvSpPr txBox="1"/>
          <p:nvPr/>
        </p:nvSpPr>
        <p:spPr>
          <a:xfrm>
            <a:off x="1592514" y="570711"/>
            <a:ext cx="5599523" cy="70788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b="1">
                <a:latin typeface="Times New Roman"/>
                <a:ea typeface="Calibri"/>
                <a:cs typeface="Times New Roman"/>
              </a:rPr>
              <a:t>Karle Pearson's Correlation- Hypothesis and Interpretat</a:t>
            </a:r>
            <a:r>
              <a:rPr lang="en-US" sz="2000" b="1">
                <a:latin typeface="Times New Roman"/>
                <a:cs typeface="Times New Roman"/>
              </a:rPr>
              <a:t>ions</a:t>
            </a:r>
            <a:endParaRPr lang="en-US" sz="2000" b="1">
              <a:latin typeface="Times New Roman"/>
              <a:ea typeface="Calibri"/>
              <a:cs typeface="Times New Roman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xmlns="" id="{1FDF22EA-1728-427A-F3B2-4985DD184150}"/>
              </a:ext>
            </a:extLst>
          </p:cNvPr>
          <p:cNvGraphicFramePr>
            <a:graphicFrameLocks noGrp="1"/>
          </p:cNvGraphicFramePr>
          <p:nvPr/>
        </p:nvGraphicFramePr>
        <p:xfrm>
          <a:off x="690113" y="1488056"/>
          <a:ext cx="7446603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0132">
                  <a:extLst>
                    <a:ext uri="{9D8B030D-6E8A-4147-A177-3AD203B41FA5}">
                      <a16:colId xmlns:a16="http://schemas.microsoft.com/office/drawing/2014/main" xmlns="" val="2236586679"/>
                    </a:ext>
                  </a:extLst>
                </a:gridCol>
                <a:gridCol w="5246471">
                  <a:extLst>
                    <a:ext uri="{9D8B030D-6E8A-4147-A177-3AD203B41FA5}">
                      <a16:colId xmlns:a16="http://schemas.microsoft.com/office/drawing/2014/main" xmlns="" val="3212541828"/>
                    </a:ext>
                  </a:extLst>
                </a:gridCol>
              </a:tblGrid>
              <a:tr h="781023"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Null Hypothesis (</a:t>
                      </a:r>
                      <a:r>
                        <a:rPr lang="en-US" sz="1800" b="1" i="0" u="none" strike="noStrike" noProof="0">
                          <a:solidFill>
                            <a:schemeClr val="tx1"/>
                          </a:solidFill>
                        </a:rPr>
                        <a:t>H₀₁)</a:t>
                      </a:r>
                      <a:endParaRPr lang="en-US" b="1" baseline="-2500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0" i="0" u="none" strike="noStrike" baseline="0" noProof="0">
                          <a:solidFill>
                            <a:schemeClr val="tx1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There is </a:t>
                      </a:r>
                      <a:r>
                        <a:rPr lang="en-US" sz="1600" b="1" i="0" u="none" strike="noStrike" baseline="0" noProof="0">
                          <a:solidFill>
                            <a:schemeClr val="tx1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no significant</a:t>
                      </a:r>
                      <a:r>
                        <a:rPr lang="en-US" sz="1600" b="0" i="0" u="none" strike="noStrike" baseline="0" noProof="0">
                          <a:solidFill>
                            <a:schemeClr val="tx1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 relationship between burnout dimensions (as measured by BAT) and teachers’ well-being and academic stream.</a:t>
                      </a:r>
                      <a:endParaRPr lang="en-US" sz="1600" b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222054528"/>
                  </a:ext>
                </a:extLst>
              </a:tr>
              <a:tr h="781023"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Alternate Hypothesis (</a:t>
                      </a:r>
                      <a:r>
                        <a:rPr lang="en-US" sz="1800" b="1" i="0" u="none" strike="noStrike" noProof="0">
                          <a:solidFill>
                            <a:schemeClr val="tx1"/>
                          </a:solidFill>
                        </a:rPr>
                        <a:t>H₁₁)</a:t>
                      </a:r>
                      <a:endParaRPr lang="en-US" b="1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0" i="0" u="none" strike="noStrike" kern="1200" baseline="0" noProof="0">
                          <a:solidFill>
                            <a:schemeClr val="tx1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There is a </a:t>
                      </a:r>
                      <a:r>
                        <a:rPr lang="en-US" sz="1600" b="1" i="0" u="none" strike="noStrike" kern="1200" baseline="0" noProof="0">
                          <a:solidFill>
                            <a:schemeClr val="tx1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significant </a:t>
                      </a:r>
                      <a:r>
                        <a:rPr lang="en-US" sz="1600" b="0" i="0" u="none" strike="noStrike" kern="1200" baseline="0" noProof="0">
                          <a:solidFill>
                            <a:schemeClr val="tx1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relationship between burnout dimensions (as measured by BAT) and teachers’ well-being and academic stream.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362175152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9C6CC074-441B-0924-1B6E-5D0E8DE8A6C7}"/>
              </a:ext>
            </a:extLst>
          </p:cNvPr>
          <p:cNvSpPr txBox="1"/>
          <p:nvPr/>
        </p:nvSpPr>
        <p:spPr>
          <a:xfrm>
            <a:off x="280359" y="3261864"/>
            <a:ext cx="8658762" cy="160043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>
                <a:latin typeface="Times New Roman"/>
                <a:cs typeface="Times New Roman"/>
              </a:rPr>
              <a:t>A moderate positive correlation (r = 0.3656, p = 0.007) was found between academic stream and mental distress This indicates that burnout varies across streams Teachers from Commerce and Humanities show higher distress levels compared to Science.</a:t>
            </a:r>
          </a:p>
          <a:p>
            <a:endParaRPr lang="en-US" sz="1600">
              <a:latin typeface="Times New Roman"/>
              <a:cs typeface="Times New Roman"/>
            </a:endParaRPr>
          </a:p>
          <a:p>
            <a:r>
              <a:rPr lang="en-US" sz="1600" b="1">
                <a:latin typeface="Times New Roman"/>
                <a:ea typeface="+mn-lt"/>
                <a:cs typeface="Times New Roman"/>
              </a:rPr>
              <a:t>Burnout is not uniform—it is influenced by the teaching domain.</a:t>
            </a:r>
            <a:endParaRPr lang="en-US" b="1">
              <a:latin typeface="Times New Roman"/>
              <a:cs typeface="Times New Roman"/>
            </a:endParaRPr>
          </a:p>
          <a:p>
            <a:pPr algn="ctr"/>
            <a:endParaRPr lang="en-US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41477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xmlns="" id="{C4CF043D-EE8D-E766-04B3-F84B2CC0AFDD}"/>
              </a:ext>
            </a:extLst>
          </p:cNvPr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8A"/>
          </a:solidFill>
          <a:ln/>
        </p:spPr>
      </p:sp>
      <p:sp>
        <p:nvSpPr>
          <p:cNvPr id="5" name="Text 1">
            <a:extLst>
              <a:ext uri="{FF2B5EF4-FFF2-40B4-BE49-F238E27FC236}">
                <a16:creationId xmlns:a16="http://schemas.microsoft.com/office/drawing/2014/main" xmlns="" id="{56037759-73D6-55CE-1E03-4963E8D379AA}"/>
              </a:ext>
            </a:extLst>
          </p:cNvPr>
          <p:cNvSpPr/>
          <p:nvPr/>
        </p:nvSpPr>
        <p:spPr>
          <a:xfrm>
            <a:off x="7772400" y="4572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edunet</a:t>
            </a:r>
            <a:endParaRPr lang="en-US" sz="800"/>
          </a:p>
          <a:p>
            <a:pPr marL="0" indent="0" algn="r">
              <a:buNone/>
            </a:pPr>
            <a:r>
              <a:rPr lang="en-US" sz="800" b="1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8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FA3E74DF-8897-84E2-5870-A287C974F8AC}"/>
              </a:ext>
            </a:extLst>
          </p:cNvPr>
          <p:cNvSpPr txBox="1"/>
          <p:nvPr/>
        </p:nvSpPr>
        <p:spPr>
          <a:xfrm>
            <a:off x="1592514" y="570711"/>
            <a:ext cx="5599523" cy="70788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b="1">
                <a:latin typeface="Times New Roman"/>
                <a:ea typeface="Calibri"/>
                <a:cs typeface="Times New Roman"/>
              </a:rPr>
              <a:t>ANOVA (Analysis of Variance) - Hypothesis and  Results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xmlns="" id="{13B87E65-8145-E1DA-280B-B39C3402B3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9616301"/>
              </p:ext>
            </p:extLst>
          </p:nvPr>
        </p:nvGraphicFramePr>
        <p:xfrm>
          <a:off x="690113" y="1488056"/>
          <a:ext cx="7446603" cy="16039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0132">
                  <a:extLst>
                    <a:ext uri="{9D8B030D-6E8A-4147-A177-3AD203B41FA5}">
                      <a16:colId xmlns:a16="http://schemas.microsoft.com/office/drawing/2014/main" xmlns="" val="2236586679"/>
                    </a:ext>
                  </a:extLst>
                </a:gridCol>
                <a:gridCol w="5246471">
                  <a:extLst>
                    <a:ext uri="{9D8B030D-6E8A-4147-A177-3AD203B41FA5}">
                      <a16:colId xmlns:a16="http://schemas.microsoft.com/office/drawing/2014/main" xmlns="" val="3212541828"/>
                    </a:ext>
                  </a:extLst>
                </a:gridCol>
              </a:tblGrid>
              <a:tr h="781023"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Null Hypothesis (</a:t>
                      </a:r>
                      <a:r>
                        <a:rPr lang="en-US" sz="1800" b="1" i="0" u="none" strike="noStrike" noProof="0">
                          <a:solidFill>
                            <a:schemeClr val="tx1"/>
                          </a:solidFill>
                        </a:rPr>
                        <a:t>H₀₁)</a:t>
                      </a:r>
                      <a:endParaRPr lang="en-US" b="1" baseline="-2500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0" i="0" u="none" strike="noStrike" kern="1200" baseline="0" noProof="0">
                          <a:solidFill>
                            <a:schemeClr val="tx1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There is no significant difference in burnout levels among teachers across different academic streams (Science, Commerce, Humanities).</a:t>
                      </a:r>
                      <a:endParaRPr lang="en-US" sz="1600" b="0" i="0" u="none" strike="noStrike" kern="1200" baseline="0">
                        <a:solidFill>
                          <a:schemeClr val="tx1"/>
                        </a:solidFill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222054528"/>
                  </a:ext>
                </a:extLst>
              </a:tr>
              <a:tr h="781023"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Alternate Hypothesis (</a:t>
                      </a:r>
                      <a:r>
                        <a:rPr lang="en-US" sz="1800" b="1" i="0" u="none" strike="noStrike" noProof="0">
                          <a:solidFill>
                            <a:schemeClr val="tx1"/>
                          </a:solidFill>
                        </a:rPr>
                        <a:t>H₁₁)</a:t>
                      </a:r>
                      <a:endParaRPr lang="en-US" b="1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0" i="0" u="none" strike="noStrike" kern="1200" baseline="0" noProof="0">
                          <a:solidFill>
                            <a:schemeClr val="tx1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There is a significant difference in burnout levels among teachers across different academic streams.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362175152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78CFBFB1-191C-4E8B-469C-B37C7B6FB2C4}"/>
              </a:ext>
            </a:extLst>
          </p:cNvPr>
          <p:cNvSpPr txBox="1"/>
          <p:nvPr/>
        </p:nvSpPr>
        <p:spPr>
          <a:xfrm>
            <a:off x="496020" y="3207948"/>
            <a:ext cx="7914734" cy="16312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>
                <a:latin typeface="Times New Roman"/>
                <a:cs typeface="Times New Roman"/>
              </a:rPr>
              <a:t>Significant differences were found across academic streams: </a:t>
            </a:r>
          </a:p>
          <a:p>
            <a:r>
              <a:rPr lang="en-US" sz="1600">
                <a:latin typeface="Times New Roman"/>
                <a:cs typeface="Times New Roman"/>
              </a:rPr>
              <a:t>✔ Mental Distress: F = 8.252, p &lt; 0.001 → Highly significant </a:t>
            </a:r>
          </a:p>
          <a:p>
            <a:r>
              <a:rPr lang="en-US" sz="1600">
                <a:latin typeface="Times New Roman"/>
                <a:cs typeface="Times New Roman"/>
              </a:rPr>
              <a:t>✔ Cognitive Impairment: F = 5.703, p = 0.006 → Significant </a:t>
            </a:r>
          </a:p>
          <a:p>
            <a:r>
              <a:rPr lang="en-US" sz="1600">
                <a:latin typeface="Times New Roman"/>
                <a:cs typeface="Times New Roman"/>
              </a:rPr>
              <a:t>✔ Psychosomatic Complaints: F = 3.463, p = 0.039 → Moderately significant</a:t>
            </a:r>
          </a:p>
          <a:p>
            <a:pPr algn="ctr"/>
            <a:endParaRPr lang="en-US"/>
          </a:p>
          <a:p>
            <a:r>
              <a:rPr lang="en-US" sz="1600" b="1">
                <a:latin typeface="Times New Roman"/>
                <a:ea typeface="+mn-lt"/>
                <a:cs typeface="Times New Roman"/>
              </a:rPr>
              <a:t>Burnout levels differ significantly across departments.</a:t>
            </a:r>
            <a:endParaRPr lang="en-US" sz="1600" b="1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6206895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xmlns="" id="{563B185B-0C0A-9F82-475A-8A7BF355FDFD}"/>
              </a:ext>
            </a:extLst>
          </p:cNvPr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8A"/>
          </a:solidFill>
          <a:ln/>
        </p:spPr>
      </p:sp>
      <p:sp>
        <p:nvSpPr>
          <p:cNvPr id="5" name="Text 1">
            <a:extLst>
              <a:ext uri="{FF2B5EF4-FFF2-40B4-BE49-F238E27FC236}">
                <a16:creationId xmlns:a16="http://schemas.microsoft.com/office/drawing/2014/main" xmlns="" id="{9396AB4A-464E-0CEF-E762-03D88EDD62E6}"/>
              </a:ext>
            </a:extLst>
          </p:cNvPr>
          <p:cNvSpPr/>
          <p:nvPr/>
        </p:nvSpPr>
        <p:spPr>
          <a:xfrm>
            <a:off x="7772400" y="4572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edunet</a:t>
            </a:r>
            <a:endParaRPr lang="en-US" sz="800"/>
          </a:p>
          <a:p>
            <a:pPr marL="0" indent="0" algn="r">
              <a:buNone/>
            </a:pPr>
            <a:r>
              <a:rPr lang="en-US" sz="800" b="1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8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184CF524-8D6B-70BA-E140-0D400F2AC4BA}"/>
              </a:ext>
            </a:extLst>
          </p:cNvPr>
          <p:cNvSpPr txBox="1"/>
          <p:nvPr/>
        </p:nvSpPr>
        <p:spPr>
          <a:xfrm>
            <a:off x="1592514" y="570711"/>
            <a:ext cx="5599523" cy="4001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b="1">
                <a:latin typeface="Times New Roman"/>
                <a:ea typeface="Calibri"/>
                <a:cs typeface="Times New Roman"/>
              </a:rPr>
              <a:t>WHO- 5 Wellbeing Index- Results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6DD6D628-20E1-F39D-524D-0B896888B710}"/>
              </a:ext>
            </a:extLst>
          </p:cNvPr>
          <p:cNvSpPr txBox="1"/>
          <p:nvPr/>
        </p:nvSpPr>
        <p:spPr>
          <a:xfrm>
            <a:off x="765595" y="1288571"/>
            <a:ext cx="7483414" cy="33239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600" b="1">
                <a:latin typeface="Times New Roman"/>
                <a:ea typeface="+mn-lt"/>
                <a:cs typeface="Times New Roman"/>
              </a:rPr>
              <a:t>Overall well-being is moderate</a:t>
            </a:r>
            <a:r>
              <a:rPr lang="en-US" sz="1600">
                <a:latin typeface="Times New Roman"/>
                <a:ea typeface="+mn-lt"/>
                <a:cs typeface="Times New Roman"/>
              </a:rPr>
              <a:t> among the surveyed teachers, indicating that burnout has not yet critically impaired general life satisfaction.</a:t>
            </a:r>
            <a:endParaRPr lang="en-US" sz="160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1600" b="1">
                <a:latin typeface="Times New Roman"/>
                <a:ea typeface="+mn-lt"/>
                <a:cs typeface="Times New Roman"/>
              </a:rPr>
              <a:t>Freshness scores are low</a:t>
            </a:r>
            <a:r>
              <a:rPr lang="en-US" sz="1600">
                <a:latin typeface="Times New Roman"/>
                <a:ea typeface="+mn-lt"/>
                <a:cs typeface="Times New Roman"/>
              </a:rPr>
              <a:t> — teachers report difficulty waking up feeling rested, suggesting poor sleep quality linked to occupational stress.</a:t>
            </a:r>
            <a:endParaRPr lang="en-US" sz="160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1600" b="1">
                <a:latin typeface="Times New Roman"/>
                <a:ea typeface="+mn-lt"/>
                <a:cs typeface="Times New Roman"/>
              </a:rPr>
              <a:t>Relaxation levels are reduced</a:t>
            </a:r>
            <a:r>
              <a:rPr lang="en-US" sz="1600">
                <a:latin typeface="Times New Roman"/>
                <a:ea typeface="+mn-lt"/>
                <a:cs typeface="Times New Roman"/>
              </a:rPr>
              <a:t> — faculty struggle to mentally disconnect from work, indicating an inability to recover between working days.</a:t>
            </a:r>
            <a:endParaRPr lang="en-US" sz="160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1600" b="1">
                <a:latin typeface="Times New Roman"/>
                <a:ea typeface="+mn-lt"/>
                <a:cs typeface="Times New Roman"/>
              </a:rPr>
              <a:t>Energy levels are depleted</a:t>
            </a:r>
            <a:r>
              <a:rPr lang="en-US" sz="1600">
                <a:latin typeface="Times New Roman"/>
                <a:ea typeface="+mn-lt"/>
                <a:cs typeface="Times New Roman"/>
              </a:rPr>
              <a:t> — teachers report feeling physically and mentally drained, leaving little vitality for personal or social engagement.</a:t>
            </a:r>
            <a:endParaRPr lang="en-US" sz="160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1600">
                <a:latin typeface="Times New Roman"/>
                <a:ea typeface="+mn-lt"/>
                <a:cs typeface="Times New Roman"/>
              </a:rPr>
              <a:t>These patterns are more pronounced among </a:t>
            </a:r>
            <a:r>
              <a:rPr lang="en-US" sz="1600" b="1">
                <a:latin typeface="Times New Roman"/>
                <a:ea typeface="+mn-lt"/>
                <a:cs typeface="Times New Roman"/>
              </a:rPr>
              <a:t>high-burnout groups</a:t>
            </a:r>
            <a:r>
              <a:rPr lang="en-US" sz="1600">
                <a:latin typeface="Times New Roman"/>
                <a:ea typeface="+mn-lt"/>
                <a:cs typeface="Times New Roman"/>
              </a:rPr>
              <a:t> (Commerce &amp; Management and Humanities streams).</a:t>
            </a:r>
            <a:endParaRPr lang="en-US" sz="160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1600">
                <a:latin typeface="Times New Roman"/>
                <a:ea typeface="+mn-lt"/>
                <a:cs typeface="Times New Roman"/>
              </a:rPr>
              <a:t>Findings highlight the need for </a:t>
            </a:r>
            <a:r>
              <a:rPr lang="en-US" sz="1600" b="1">
                <a:latin typeface="Times New Roman"/>
                <a:ea typeface="+mn-lt"/>
                <a:cs typeface="Times New Roman"/>
              </a:rPr>
              <a:t>structured wellness interventions</a:t>
            </a:r>
            <a:r>
              <a:rPr lang="en-US" sz="1600">
                <a:latin typeface="Times New Roman"/>
                <a:ea typeface="+mn-lt"/>
                <a:cs typeface="Times New Roman"/>
              </a:rPr>
              <a:t> to restore rest, recovery, and daily energy among teaching faculty.</a:t>
            </a:r>
            <a:endParaRPr lang="en-US" sz="1600">
              <a:latin typeface="Times New Roman"/>
              <a:cs typeface="Times New Roman"/>
            </a:endParaRPr>
          </a:p>
          <a:p>
            <a:pPr algn="ctr"/>
            <a:endParaRPr lang="en-US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458542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xmlns="" id="{415C5A14-BF55-E67C-F722-566E03AFD21B}"/>
              </a:ext>
            </a:extLst>
          </p:cNvPr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8A"/>
          </a:solidFill>
          <a:ln/>
        </p:spPr>
      </p:sp>
      <p:sp>
        <p:nvSpPr>
          <p:cNvPr id="5" name="Text 1">
            <a:extLst>
              <a:ext uri="{FF2B5EF4-FFF2-40B4-BE49-F238E27FC236}">
                <a16:creationId xmlns:a16="http://schemas.microsoft.com/office/drawing/2014/main" xmlns="" id="{59FE9974-ACF2-899B-C372-DA6D0A8CAE33}"/>
              </a:ext>
            </a:extLst>
          </p:cNvPr>
          <p:cNvSpPr/>
          <p:nvPr/>
        </p:nvSpPr>
        <p:spPr>
          <a:xfrm>
            <a:off x="7772400" y="4572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edunet</a:t>
            </a:r>
            <a:endParaRPr lang="en-US" sz="800"/>
          </a:p>
          <a:p>
            <a:pPr marL="0" indent="0" algn="r">
              <a:buNone/>
            </a:pPr>
            <a:r>
              <a:rPr lang="en-US" sz="800" b="1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8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EBC87AC8-16BB-33D9-17C5-4578DC3D7083}"/>
              </a:ext>
            </a:extLst>
          </p:cNvPr>
          <p:cNvSpPr txBox="1"/>
          <p:nvPr/>
        </p:nvSpPr>
        <p:spPr>
          <a:xfrm>
            <a:off x="1739658" y="638780"/>
            <a:ext cx="5681070" cy="4001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b="1" err="1">
                <a:latin typeface="Times New Roman"/>
                <a:ea typeface="Calibri"/>
                <a:cs typeface="Times New Roman"/>
              </a:rPr>
              <a:t>Overall</a:t>
            </a:r>
            <a:r>
              <a:rPr lang="en-US" sz="2000" b="1">
                <a:latin typeface="Times New Roman"/>
                <a:ea typeface="Calibri"/>
                <a:cs typeface="Times New Roman"/>
              </a:rPr>
              <a:t> Results and Interpretations</a:t>
            </a:r>
            <a:endParaRPr lang="en-US" sz="2000" b="1">
              <a:latin typeface="Times New Roman"/>
              <a:cs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63855C3C-FF96-0539-8C1B-9538B6F28E40}"/>
              </a:ext>
            </a:extLst>
          </p:cNvPr>
          <p:cNvSpPr txBox="1"/>
          <p:nvPr/>
        </p:nvSpPr>
        <p:spPr>
          <a:xfrm>
            <a:off x="312708" y="1288571"/>
            <a:ext cx="4410254" cy="273921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400" b="1">
                <a:latin typeface="Times New Roman"/>
                <a:ea typeface="+mn-lt"/>
                <a:cs typeface="Times New Roman"/>
              </a:rPr>
              <a:t>Burnout is multi-dimensional</a:t>
            </a:r>
            <a:r>
              <a:rPr lang="en-US" sz="1400">
                <a:latin typeface="Times New Roman"/>
                <a:ea typeface="+mn-lt"/>
                <a:cs typeface="Times New Roman"/>
              </a:rPr>
              <a:t> — it goes beyond mere exhaustion and encompasses mental distress, cognitive difficulties, and physical symptoms simultaneously</a:t>
            </a:r>
            <a:endParaRPr lang="en-US" sz="140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1400" b="1">
                <a:latin typeface="Times New Roman"/>
                <a:ea typeface="+mn-lt"/>
                <a:cs typeface="Times New Roman"/>
              </a:rPr>
              <a:t>Mental distress is significant</a:t>
            </a:r>
            <a:r>
              <a:rPr lang="en-US" sz="1400">
                <a:latin typeface="Times New Roman"/>
                <a:ea typeface="+mn-lt"/>
                <a:cs typeface="Times New Roman"/>
              </a:rPr>
              <a:t> — teachers, especially from Commerce &amp; Management and Humanities, report high levels of worry, tension, and anxiety linked to occupational demands</a:t>
            </a:r>
            <a:endParaRPr lang="en-US" sz="140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1400" b="1">
                <a:latin typeface="Times New Roman"/>
                <a:ea typeface="+mn-lt"/>
                <a:cs typeface="Times New Roman"/>
              </a:rPr>
              <a:t>Cognitive issues are prominent</a:t>
            </a:r>
            <a:r>
              <a:rPr lang="en-US" sz="1400">
                <a:latin typeface="Times New Roman"/>
                <a:ea typeface="+mn-lt"/>
                <a:cs typeface="Times New Roman"/>
              </a:rPr>
              <a:t> — difficulty in focusing, thinking clearly, and memory lapses at work were found to vary significantly across academic streams (F = 5.703, p = .006)</a:t>
            </a:r>
            <a:endParaRPr lang="en-US" sz="1400">
              <a:latin typeface="Times New Roman"/>
              <a:cs typeface="Times New Roman"/>
            </a:endParaRPr>
          </a:p>
          <a:p>
            <a:pPr algn="ctr"/>
            <a:endParaRPr lang="en-US">
              <a:ea typeface="Calibri"/>
              <a:cs typeface="Calibr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88CE4B34-9FD6-302E-8443-6F5BE48D5EA5}"/>
              </a:ext>
            </a:extLst>
          </p:cNvPr>
          <p:cNvSpPr txBox="1"/>
          <p:nvPr/>
        </p:nvSpPr>
        <p:spPr>
          <a:xfrm>
            <a:off x="4582783" y="1288571"/>
            <a:ext cx="4572000" cy="34163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lvl="0" indent="-285750" rtl="0">
              <a:buFont typeface="Arial,Sans-Serif"/>
              <a:buChar char="•"/>
            </a:pPr>
            <a:r>
              <a:rPr lang="en-US" sz="1400" b="1" baseline="0">
                <a:latin typeface="Times New Roman"/>
                <a:ea typeface="Arial"/>
                <a:cs typeface="Arial"/>
              </a:rPr>
              <a:t>Psychosomatic symptoms are evident</a:t>
            </a:r>
            <a:r>
              <a:rPr lang="en-US" sz="1400" baseline="0">
                <a:latin typeface="Times New Roman"/>
                <a:ea typeface="Arial"/>
                <a:cs typeface="Arial"/>
              </a:rPr>
              <a:t> — physical manifestations of stress such as headaches, sleep trouble, and muscle pain were significantly higher in Commerce &amp; Management faculty</a:t>
            </a:r>
            <a:r>
              <a:rPr lang="en-US" sz="1400">
                <a:latin typeface="Times New Roman"/>
                <a:ea typeface="Arial"/>
                <a:cs typeface="Arial"/>
              </a:rPr>
              <a:t>​</a:t>
            </a:r>
          </a:p>
          <a:p>
            <a:pPr marL="285750" lvl="0" indent="-285750" rtl="0">
              <a:buFont typeface="Arial,Sans-Serif"/>
              <a:buChar char="•"/>
            </a:pPr>
            <a:r>
              <a:rPr lang="en-US" sz="1400" b="1" baseline="0">
                <a:latin typeface="Times New Roman"/>
                <a:ea typeface="Arial"/>
                <a:cs typeface="Arial"/>
              </a:rPr>
              <a:t>Significant variation exists across academic streams</a:t>
            </a:r>
            <a:r>
              <a:rPr lang="en-US" sz="1400" baseline="0">
                <a:latin typeface="Times New Roman"/>
                <a:ea typeface="Arial"/>
                <a:cs typeface="Arial"/>
              </a:rPr>
              <a:t> — Psychological Distress showed the highest stream-wise difference (F = 8.252, p = .001), with Science teachers reporting the lowest burnout overall</a:t>
            </a:r>
            <a:r>
              <a:rPr lang="en-US" sz="1400">
                <a:latin typeface="Times New Roman"/>
                <a:ea typeface="Arial"/>
                <a:cs typeface="Arial"/>
              </a:rPr>
              <a:t>​</a:t>
            </a:r>
          </a:p>
          <a:p>
            <a:pPr marL="285750" lvl="0" indent="-285750" rtl="0">
              <a:buFont typeface="Arial,Sans-Serif"/>
              <a:buChar char="•"/>
            </a:pPr>
            <a:r>
              <a:rPr lang="en-US" sz="1400" b="1" baseline="0">
                <a:latin typeface="Times New Roman"/>
                <a:ea typeface="Arial"/>
                <a:cs typeface="Arial"/>
              </a:rPr>
              <a:t>AI tools enhanced analysis speed and insight generation</a:t>
            </a:r>
            <a:r>
              <a:rPr lang="en-US" sz="1400" baseline="0">
                <a:latin typeface="Times New Roman"/>
                <a:ea typeface="Arial"/>
                <a:cs typeface="Arial"/>
              </a:rPr>
              <a:t> — Microsoft Copilot and Power BI enabled faster data interpretation, pattern recognition, and professional reporting</a:t>
            </a:r>
            <a:r>
              <a:rPr lang="en-US" sz="1400">
                <a:latin typeface="Times New Roman"/>
                <a:ea typeface="Arial"/>
                <a:cs typeface="Arial"/>
              </a:rPr>
              <a:t>​</a:t>
            </a:r>
          </a:p>
          <a:p>
            <a:pPr lvl="0" rtl="0"/>
            <a:endParaRPr lang="en-US" sz="1400">
              <a:latin typeface="Times New Roman"/>
              <a:ea typeface="Arial"/>
              <a:cs typeface="Arial"/>
            </a:endParaRPr>
          </a:p>
          <a:p>
            <a:pPr rtl="0"/>
            <a:r>
              <a:rPr lang="en-US" sz="1600">
                <a:latin typeface="Times New Roman"/>
                <a:ea typeface="Segoe UI"/>
                <a:cs typeface="Segoe UI"/>
              </a:rPr>
              <a:t>​</a:t>
            </a:r>
          </a:p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BF54C711-0AD0-94D0-2FF4-D84336D9FAC8}"/>
              </a:ext>
            </a:extLst>
          </p:cNvPr>
          <p:cNvSpPr txBox="1"/>
          <p:nvPr/>
        </p:nvSpPr>
        <p:spPr>
          <a:xfrm>
            <a:off x="1024386" y="4027458"/>
            <a:ext cx="7095226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>
                <a:latin typeface="Times New Roman"/>
              </a:rPr>
              <a:t>Burnout</a:t>
            </a:r>
            <a:r>
              <a:rPr lang="en-US" b="1" baseline="0">
                <a:latin typeface="Times New Roman"/>
              </a:rPr>
              <a:t> among teachers is not an individual failing but a serious, data-backed institutional issue that demands structured, stream-specific policy responses​</a:t>
            </a:r>
            <a:r>
              <a:rPr lang="en-US" b="1">
                <a:latin typeface="Times New Roman"/>
              </a:rPr>
              <a:t>.</a:t>
            </a:r>
            <a:endParaRPr lang="en-US" b="1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446979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xmlns="" id="{06C4048A-72AA-DCAF-BF0F-260EC9E285C3}"/>
              </a:ext>
            </a:extLst>
          </p:cNvPr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8A"/>
          </a:solidFill>
          <a:ln/>
        </p:spPr>
      </p:sp>
      <p:sp>
        <p:nvSpPr>
          <p:cNvPr id="5" name="Text 1">
            <a:extLst>
              <a:ext uri="{FF2B5EF4-FFF2-40B4-BE49-F238E27FC236}">
                <a16:creationId xmlns:a16="http://schemas.microsoft.com/office/drawing/2014/main" xmlns="" id="{BEA8B6DD-C939-ADAD-2610-F4D4E951E6E6}"/>
              </a:ext>
            </a:extLst>
          </p:cNvPr>
          <p:cNvSpPr/>
          <p:nvPr/>
        </p:nvSpPr>
        <p:spPr>
          <a:xfrm>
            <a:off x="7772400" y="4572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edunet</a:t>
            </a:r>
            <a:endParaRPr lang="en-US" sz="800"/>
          </a:p>
          <a:p>
            <a:pPr marL="0" indent="0" algn="r">
              <a:buNone/>
            </a:pPr>
            <a:r>
              <a:rPr lang="en-US" sz="800" b="1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8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359FF18D-5FBE-5DF9-C368-4EA7B670433D}"/>
              </a:ext>
            </a:extLst>
          </p:cNvPr>
          <p:cNvSpPr txBox="1"/>
          <p:nvPr/>
        </p:nvSpPr>
        <p:spPr>
          <a:xfrm>
            <a:off x="2035517" y="745150"/>
            <a:ext cx="5069471" cy="4001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b="1">
                <a:latin typeface="Times New Roman"/>
                <a:ea typeface="Calibri"/>
                <a:cs typeface="Times New Roman"/>
              </a:rPr>
              <a:t>RECOMMENDATIONS</a:t>
            </a:r>
            <a:endParaRPr lang="en-US" sz="2000" b="1">
              <a:latin typeface="Times New Roman"/>
              <a:cs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7BE3D687-6125-0DD2-D178-B734B749C2AE}"/>
              </a:ext>
            </a:extLst>
          </p:cNvPr>
          <p:cNvSpPr txBox="1"/>
          <p:nvPr/>
        </p:nvSpPr>
        <p:spPr>
          <a:xfrm>
            <a:off x="301925" y="1504231"/>
            <a:ext cx="8540149" cy="307776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>
                <a:latin typeface="Times New Roman"/>
                <a:cs typeface="Times New Roman"/>
              </a:rPr>
              <a:t>1. Workload Management:</a:t>
            </a:r>
            <a:r>
              <a:rPr lang="en-US" sz="1600">
                <a:latin typeface="Times New Roman"/>
                <a:cs typeface="Times New Roman"/>
              </a:rPr>
              <a:t> Redistribute workload across departments. Reduce excessive administrative burden.</a:t>
            </a:r>
            <a:endParaRPr lang="en-US" sz="1600">
              <a:ea typeface="Calibri"/>
              <a:cs typeface="Calibri"/>
            </a:endParaRPr>
          </a:p>
          <a:p>
            <a:r>
              <a:rPr lang="en-US" sz="1600" b="1">
                <a:latin typeface="Times New Roman"/>
                <a:cs typeface="Times New Roman"/>
              </a:rPr>
              <a:t>2. Mental Health Support:</a:t>
            </a:r>
            <a:r>
              <a:rPr lang="en-US" sz="1600">
                <a:latin typeface="Times New Roman"/>
                <a:cs typeface="Times New Roman"/>
              </a:rPr>
              <a:t> Provide counselling services. Conduct stress management workshops. </a:t>
            </a:r>
          </a:p>
          <a:p>
            <a:r>
              <a:rPr lang="en-US" sz="1600" b="1">
                <a:latin typeface="Times New Roman"/>
                <a:cs typeface="Times New Roman"/>
              </a:rPr>
              <a:t>3. Flexible Work Policies: </a:t>
            </a:r>
            <a:r>
              <a:rPr lang="en-US" sz="1600">
                <a:latin typeface="Times New Roman"/>
                <a:cs typeface="Times New Roman"/>
              </a:rPr>
              <a:t>Introduce flexible teaching hours. Promote work-life balance initiatives </a:t>
            </a:r>
            <a:endParaRPr lang="en-US" sz="1600">
              <a:latin typeface="Times New Roman"/>
              <a:ea typeface="Calibri"/>
              <a:cs typeface="Times New Roman"/>
            </a:endParaRPr>
          </a:p>
          <a:p>
            <a:r>
              <a:rPr lang="en-US" sz="1600" b="1">
                <a:latin typeface="Times New Roman"/>
                <a:cs typeface="Times New Roman"/>
              </a:rPr>
              <a:t>4. Regular Burnout Monitoring: </a:t>
            </a:r>
            <a:r>
              <a:rPr lang="en-US" sz="1600">
                <a:latin typeface="Times New Roman"/>
                <a:cs typeface="Times New Roman"/>
              </a:rPr>
              <a:t>Use tools like BAT periodically. Identify high-risk faculty early </a:t>
            </a:r>
            <a:endParaRPr lang="en-US" sz="1600">
              <a:latin typeface="Times New Roman"/>
              <a:ea typeface="Calibri"/>
              <a:cs typeface="Times New Roman"/>
            </a:endParaRPr>
          </a:p>
          <a:p>
            <a:r>
              <a:rPr lang="en-US" sz="1600" b="1">
                <a:latin typeface="Times New Roman"/>
                <a:cs typeface="Times New Roman"/>
              </a:rPr>
              <a:t>5. AI-Based Monitoring Systems: </a:t>
            </a:r>
            <a:r>
              <a:rPr lang="en-US" sz="1600">
                <a:latin typeface="Times New Roman"/>
                <a:cs typeface="Times New Roman"/>
              </a:rPr>
              <a:t>Use AI dashboards &amp; analytics Detect burnout trends in real-time </a:t>
            </a:r>
            <a:endParaRPr lang="en-US" sz="1600">
              <a:latin typeface="Times New Roman"/>
              <a:ea typeface="Calibri"/>
              <a:cs typeface="Times New Roman"/>
            </a:endParaRPr>
          </a:p>
          <a:p>
            <a:r>
              <a:rPr lang="en-US" sz="1600" b="1">
                <a:latin typeface="Times New Roman"/>
                <a:cs typeface="Times New Roman"/>
              </a:rPr>
              <a:t>6. Faculty Development Programs: </a:t>
            </a:r>
            <a:r>
              <a:rPr lang="en-US" sz="1600">
                <a:latin typeface="Times New Roman"/>
                <a:cs typeface="Times New Roman"/>
              </a:rPr>
              <a:t>Training for stress handling &amp; time management Professional development support.</a:t>
            </a:r>
            <a:endParaRPr lang="en-US" sz="1600">
              <a:latin typeface="Times New Roman"/>
              <a:ea typeface="Calibri"/>
              <a:cs typeface="Times New Roman"/>
            </a:endParaRPr>
          </a:p>
          <a:p>
            <a:r>
              <a:rPr lang="en-US" sz="1600" b="1">
                <a:latin typeface="Times New Roman"/>
                <a:cs typeface="Times New Roman"/>
              </a:rPr>
              <a:t>7. Supportive Work Environment: </a:t>
            </a:r>
            <a:r>
              <a:rPr lang="en-US" sz="1600">
                <a:latin typeface="Times New Roman"/>
                <a:cs typeface="Times New Roman"/>
              </a:rPr>
              <a:t>Encourage peer support groups. Improve communication between faculty &amp; management.</a:t>
            </a:r>
            <a:endParaRPr lang="en-US" sz="1600">
              <a:latin typeface="Times New Roman"/>
              <a:ea typeface="Calibri"/>
              <a:cs typeface="Times New Roman"/>
            </a:endParaRPr>
          </a:p>
          <a:p>
            <a:r>
              <a:rPr lang="en-US" sz="1600" b="1">
                <a:latin typeface="Times New Roman"/>
                <a:cs typeface="Times New Roman"/>
              </a:rPr>
              <a:t>8. Wellness &amp; Recreation Programs:</a:t>
            </a:r>
            <a:r>
              <a:rPr lang="en-US" sz="1600">
                <a:latin typeface="Times New Roman"/>
                <a:cs typeface="Times New Roman"/>
              </a:rPr>
              <a:t> Organize retreats, yoga sessions, wellness drives.</a:t>
            </a:r>
            <a:endParaRPr lang="en-US" sz="1600">
              <a:latin typeface="Times New Roman"/>
              <a:ea typeface="Calibri"/>
              <a:cs typeface="Times New Roman"/>
            </a:endParaRPr>
          </a:p>
          <a:p>
            <a:pPr algn="ctr"/>
            <a:endParaRPr lang="en-US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3541876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8A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0" y="4572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edunet</a:t>
            </a:r>
            <a:endParaRPr lang="en-US" sz="800"/>
          </a:p>
          <a:p>
            <a:pPr marL="0" indent="0" algn="r">
              <a:buNone/>
            </a:pPr>
            <a:r>
              <a:rPr lang="en-US" sz="800" b="1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800"/>
          </a:p>
        </p:txBody>
      </p:sp>
      <p:sp>
        <p:nvSpPr>
          <p:cNvPr id="4" name="Text 2"/>
          <p:cNvSpPr/>
          <p:nvPr/>
        </p:nvSpPr>
        <p:spPr>
          <a:xfrm>
            <a:off x="320040" y="62179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of Project</a:t>
            </a:r>
            <a:endParaRPr lang="en-US" sz="220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B3A8A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11556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Here's the list of some demo screenshots / features of the project:</a:t>
            </a:r>
            <a:endParaRPr lang="en-US" sz="1200"/>
          </a:p>
        </p:txBody>
      </p:sp>
      <p:sp>
        <p:nvSpPr>
          <p:cNvPr id="7" name="Shape 5"/>
          <p:cNvSpPr/>
          <p:nvPr/>
        </p:nvSpPr>
        <p:spPr>
          <a:xfrm>
            <a:off x="978408" y="1463040"/>
            <a:ext cx="1371600" cy="1371600"/>
          </a:xfrm>
          <a:prstGeom prst="ellipse">
            <a:avLst/>
          </a:prstGeom>
          <a:solidFill>
            <a:srgbClr val="ECEFF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46304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>
                <a:solidFill>
                  <a:srgbClr val="000000"/>
                </a:solidFill>
              </a:rPr>
              <a:t>🖼</a:t>
            </a:r>
            <a:endParaRPr lang="en-US" sz="3600"/>
          </a:p>
        </p:txBody>
      </p:sp>
      <p:sp>
        <p:nvSpPr>
          <p:cNvPr id="9" name="Shape 7"/>
          <p:cNvSpPr/>
          <p:nvPr/>
        </p:nvSpPr>
        <p:spPr>
          <a:xfrm>
            <a:off x="274320" y="2011680"/>
            <a:ext cx="2788920" cy="2651760"/>
          </a:xfrm>
          <a:prstGeom prst="rect">
            <a:avLst/>
          </a:prstGeom>
          <a:solidFill>
            <a:srgbClr val="1565C0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0584" y="2166524"/>
            <a:ext cx="2788920" cy="4114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1600" b="1">
                <a:solidFill>
                  <a:srgbClr val="FFFFFF"/>
                </a:solidFill>
                <a:ea typeface="Calibri"/>
                <a:cs typeface="Calibri"/>
              </a:rPr>
              <a:t>Excel </a:t>
            </a:r>
            <a:r>
              <a:rPr lang="en-US" sz="1600" b="1" err="1">
                <a:solidFill>
                  <a:srgbClr val="FFFFFF"/>
                </a:solidFill>
                <a:ea typeface="Calibri"/>
                <a:cs typeface="Calibri"/>
              </a:rPr>
              <a:t>Te</a:t>
            </a:r>
            <a:r>
              <a:rPr lang="en-US" sz="1600" b="1">
                <a:solidFill>
                  <a:srgbClr val="FFFFFF"/>
                </a:solidFill>
                <a:ea typeface="Calibri"/>
                <a:cs typeface="Calibri"/>
              </a:rPr>
              <a:t>chnical Dashboard</a:t>
            </a:r>
          </a:p>
        </p:txBody>
      </p:sp>
      <p:sp>
        <p:nvSpPr>
          <p:cNvPr id="11" name="Text 9"/>
          <p:cNvSpPr/>
          <p:nvPr/>
        </p:nvSpPr>
        <p:spPr>
          <a:xfrm>
            <a:off x="411480" y="3127248"/>
            <a:ext cx="2514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[Add description of Demo 1 here — what this demo shows, key features, and results achieved.]</a:t>
            </a:r>
            <a:endParaRPr lang="en-US" sz="1050"/>
          </a:p>
        </p:txBody>
      </p:sp>
      <p:sp>
        <p:nvSpPr>
          <p:cNvPr id="12" name="Shape 10"/>
          <p:cNvSpPr/>
          <p:nvPr/>
        </p:nvSpPr>
        <p:spPr>
          <a:xfrm>
            <a:off x="3922776" y="1463040"/>
            <a:ext cx="1371600" cy="1371600"/>
          </a:xfrm>
          <a:prstGeom prst="ellipse">
            <a:avLst/>
          </a:prstGeom>
          <a:solidFill>
            <a:srgbClr val="ECEFF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22776" y="146304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>
                <a:solidFill>
                  <a:srgbClr val="000000"/>
                </a:solidFill>
              </a:rPr>
              <a:t>🖼</a:t>
            </a:r>
            <a:endParaRPr lang="en-US" sz="3600"/>
          </a:p>
        </p:txBody>
      </p:sp>
      <p:sp>
        <p:nvSpPr>
          <p:cNvPr id="14" name="Shape 12"/>
          <p:cNvSpPr/>
          <p:nvPr/>
        </p:nvSpPr>
        <p:spPr>
          <a:xfrm>
            <a:off x="3218688" y="2011680"/>
            <a:ext cx="2788920" cy="2651760"/>
          </a:xfrm>
          <a:prstGeom prst="rect">
            <a:avLst/>
          </a:prstGeom>
          <a:solidFill>
            <a:srgbClr val="1565C0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218688" y="2166524"/>
            <a:ext cx="2788920" cy="4114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Power BI Dashboard</a:t>
            </a:r>
            <a:endParaRPr lang="en-US" sz="1600"/>
          </a:p>
        </p:txBody>
      </p:sp>
      <p:sp>
        <p:nvSpPr>
          <p:cNvPr id="16" name="Text 14"/>
          <p:cNvSpPr/>
          <p:nvPr/>
        </p:nvSpPr>
        <p:spPr>
          <a:xfrm>
            <a:off x="3355848" y="3127248"/>
            <a:ext cx="2514600" cy="1371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endParaRPr lang="en-US" sz="1050">
              <a:solidFill>
                <a:srgbClr val="FFFFFF"/>
              </a:solidFill>
              <a:ea typeface="Calibri"/>
              <a:cs typeface="Calibri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867144" y="1463040"/>
            <a:ext cx="1371600" cy="1371600"/>
          </a:xfrm>
          <a:prstGeom prst="ellipse">
            <a:avLst/>
          </a:prstGeom>
          <a:solidFill>
            <a:srgbClr val="ECEFF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67144" y="146304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>
                <a:solidFill>
                  <a:srgbClr val="000000"/>
                </a:solidFill>
              </a:rPr>
              <a:t>🖼</a:t>
            </a:r>
            <a:endParaRPr lang="en-US" sz="3600"/>
          </a:p>
        </p:txBody>
      </p:sp>
      <p:sp>
        <p:nvSpPr>
          <p:cNvPr id="19" name="Shape 17"/>
          <p:cNvSpPr/>
          <p:nvPr/>
        </p:nvSpPr>
        <p:spPr>
          <a:xfrm>
            <a:off x="6163056" y="2011680"/>
            <a:ext cx="2788920" cy="2651760"/>
          </a:xfrm>
          <a:prstGeom prst="rect">
            <a:avLst/>
          </a:prstGeom>
          <a:solidFill>
            <a:srgbClr val="1565C0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152273" y="2144958"/>
            <a:ext cx="2788920" cy="4114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1600" b="1">
                <a:solidFill>
                  <a:srgbClr val="FFFFFF"/>
                </a:solidFill>
                <a:ea typeface="Calibri"/>
                <a:cs typeface="Calibri"/>
              </a:rPr>
              <a:t>Copilot Studio Agent</a:t>
            </a:r>
          </a:p>
        </p:txBody>
      </p:sp>
      <p:sp>
        <p:nvSpPr>
          <p:cNvPr id="21" name="Text 19"/>
          <p:cNvSpPr/>
          <p:nvPr/>
        </p:nvSpPr>
        <p:spPr>
          <a:xfrm>
            <a:off x="6300216" y="3127248"/>
            <a:ext cx="2514600" cy="1371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endParaRPr lang="en-US" sz="1050">
              <a:solidFill>
                <a:srgbClr val="FFFFFF"/>
              </a:solidFill>
              <a:ea typeface="Calibri"/>
              <a:cs typeface="Calibri"/>
            </a:endParaRPr>
          </a:p>
        </p:txBody>
      </p:sp>
      <p:pic>
        <p:nvPicPr>
          <p:cNvPr id="22" name="Picture 21" descr="A screenshot of a computer&#10;&#10;AI-generated content may be incorrect.">
            <a:extLst>
              <a:ext uri="{FF2B5EF4-FFF2-40B4-BE49-F238E27FC236}">
                <a16:creationId xmlns:a16="http://schemas.microsoft.com/office/drawing/2014/main" xmlns="" id="{43EFA358-4227-CFFF-A4FB-0BFAA7BA82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64" y="2653877"/>
            <a:ext cx="3062378" cy="1679643"/>
          </a:xfrm>
          <a:prstGeom prst="rect">
            <a:avLst/>
          </a:prstGeom>
        </p:spPr>
      </p:pic>
      <p:pic>
        <p:nvPicPr>
          <p:cNvPr id="24" name="Picture 23" descr="A screenshot of a computer&#10;&#10;AI-generated content may be incorrect.">
            <a:extLst>
              <a:ext uri="{FF2B5EF4-FFF2-40B4-BE49-F238E27FC236}">
                <a16:creationId xmlns:a16="http://schemas.microsoft.com/office/drawing/2014/main" xmlns="" id="{4CB245B2-4EAF-3A4C-9005-CAD83DDFE4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8182" y="2592058"/>
            <a:ext cx="2801429" cy="1695450"/>
          </a:xfrm>
          <a:prstGeom prst="rect">
            <a:avLst/>
          </a:prstGeom>
        </p:spPr>
      </p:pic>
      <p:pic>
        <p:nvPicPr>
          <p:cNvPr id="1026" name="Picture 2" descr="C:\Users\Kritika\Pictures\Screenshots\Screenshot (52)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8689" y="2653877"/>
            <a:ext cx="2788919" cy="16571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8A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0" y="4572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edunet</a:t>
            </a:r>
            <a:endParaRPr lang="en-US" sz="800"/>
          </a:p>
          <a:p>
            <a:pPr marL="0" indent="0" algn="r">
              <a:buNone/>
            </a:pPr>
            <a:r>
              <a:rPr lang="en-US" sz="800" b="1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800"/>
          </a:p>
        </p:txBody>
      </p:sp>
      <p:sp>
        <p:nvSpPr>
          <p:cNvPr id="4" name="Text 2"/>
          <p:cNvSpPr/>
          <p:nvPr/>
        </p:nvSpPr>
        <p:spPr>
          <a:xfrm>
            <a:off x="320040" y="62179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of Project Demo</a:t>
            </a:r>
            <a:endParaRPr lang="en-US" sz="220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B3A8A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685800"/>
            <a:ext cx="8412480" cy="3977640"/>
          </a:xfrm>
          <a:prstGeom prst="rect">
            <a:avLst/>
          </a:prstGeom>
          <a:solidFill>
            <a:srgbClr val="ECEFF1"/>
          </a:solidFill>
          <a:ln w="25400">
            <a:solidFill>
              <a:srgbClr val="1B3A8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685800"/>
            <a:ext cx="8412480" cy="384048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777240"/>
            <a:ext cx="164592" cy="164592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777240"/>
            <a:ext cx="164592" cy="164592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0" name="Shape 8"/>
          <p:cNvSpPr/>
          <p:nvPr/>
        </p:nvSpPr>
        <p:spPr>
          <a:xfrm>
            <a:off x="960120" y="777240"/>
            <a:ext cx="164592" cy="164592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1" name="Shape 9"/>
          <p:cNvSpPr/>
          <p:nvPr/>
        </p:nvSpPr>
        <p:spPr>
          <a:xfrm>
            <a:off x="1371600" y="777240"/>
            <a:ext cx="502920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89888" y="768096"/>
            <a:ext cx="4992624" cy="21945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900">
                <a:solidFill>
                  <a:srgbClr val="607D8B"/>
                </a:solidFill>
                <a:ea typeface="+mn-lt"/>
                <a:cs typeface="+mn-lt"/>
                <a:hlinkClick r:id="rId3"/>
              </a:rPr>
              <a:t>11.mp4</a:t>
            </a:r>
            <a:endParaRPr lang="en-US">
              <a:ea typeface="+mn-lt"/>
              <a:cs typeface="+mn-lt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3749040" y="1828800"/>
            <a:ext cx="1645920" cy="1645920"/>
          </a:xfrm>
          <a:prstGeom prst="ellipse">
            <a:avLst/>
          </a:prstGeom>
          <a:solidFill>
            <a:srgbClr val="1B3A8A">
              <a:alpha val="8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3749040" y="182880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>
                <a:solidFill>
                  <a:srgbClr val="FFFFFF"/>
                </a:solidFill>
              </a:rPr>
              <a:t>▶</a:t>
            </a:r>
            <a:endParaRPr lang="en-US" sz="4800"/>
          </a:p>
        </p:txBody>
      </p:sp>
      <p:sp>
        <p:nvSpPr>
          <p:cNvPr id="15" name="Text 13"/>
          <p:cNvSpPr/>
          <p:nvPr/>
        </p:nvSpPr>
        <p:spPr>
          <a:xfrm>
            <a:off x="914400" y="379476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your project demo video.</a:t>
            </a:r>
            <a:endParaRPr lang="en-US" sz="1100"/>
          </a:p>
          <a:p>
            <a:pPr marL="0" indent="0" algn="ctr">
              <a:buNone/>
            </a:pPr>
            <a:r>
              <a:rPr lang="en-US" sz="1100" i="1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embed a video your live project.]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8A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0" y="4572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edunet</a:t>
            </a:r>
            <a:endParaRPr lang="en-US" sz="800"/>
          </a:p>
          <a:p>
            <a:pPr marL="0" indent="0" algn="r">
              <a:buNone/>
            </a:pPr>
            <a:r>
              <a:rPr lang="en-US" sz="800" b="1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800"/>
          </a:p>
        </p:txBody>
      </p:sp>
      <p:sp>
        <p:nvSpPr>
          <p:cNvPr id="4" name="Text 2"/>
          <p:cNvSpPr/>
          <p:nvPr/>
        </p:nvSpPr>
        <p:spPr>
          <a:xfrm>
            <a:off x="320040" y="62179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20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B3A8A"/>
          </a:solidFill>
          <a:ln/>
        </p:spPr>
      </p:sp>
      <p:sp>
        <p:nvSpPr>
          <p:cNvPr id="6" name="Text 4"/>
          <p:cNvSpPr/>
          <p:nvPr/>
        </p:nvSpPr>
        <p:spPr>
          <a:xfrm>
            <a:off x="4754880" y="1234440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5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of the Project</a:t>
            </a:r>
            <a:endParaRPr lang="en-US" sz="1150"/>
          </a:p>
        </p:txBody>
      </p:sp>
      <p:sp>
        <p:nvSpPr>
          <p:cNvPr id="7" name="Text 5"/>
          <p:cNvSpPr/>
          <p:nvPr/>
        </p:nvSpPr>
        <p:spPr>
          <a:xfrm>
            <a:off x="4754880" y="1636776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5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150"/>
          </a:p>
        </p:txBody>
      </p:sp>
      <p:sp>
        <p:nvSpPr>
          <p:cNvPr id="8" name="Text 6"/>
          <p:cNvSpPr/>
          <p:nvPr/>
        </p:nvSpPr>
        <p:spPr>
          <a:xfrm>
            <a:off x="4754880" y="2039112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5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1150"/>
          </a:p>
        </p:txBody>
      </p:sp>
      <p:sp>
        <p:nvSpPr>
          <p:cNvPr id="9" name="Text 7"/>
          <p:cNvSpPr/>
          <p:nvPr/>
        </p:nvSpPr>
        <p:spPr>
          <a:xfrm>
            <a:off x="4754880" y="2441448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5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150"/>
          </a:p>
        </p:txBody>
      </p:sp>
      <p:sp>
        <p:nvSpPr>
          <p:cNvPr id="10" name="Text 8"/>
          <p:cNvSpPr/>
          <p:nvPr/>
        </p:nvSpPr>
        <p:spPr>
          <a:xfrm>
            <a:off x="4754880" y="2843784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5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of the Project</a:t>
            </a:r>
            <a:endParaRPr lang="en-US" sz="1150"/>
          </a:p>
        </p:txBody>
      </p:sp>
      <p:sp>
        <p:nvSpPr>
          <p:cNvPr id="11" name="Text 9"/>
          <p:cNvSpPr/>
          <p:nvPr/>
        </p:nvSpPr>
        <p:spPr>
          <a:xfrm>
            <a:off x="4754880" y="3246120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5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Video of Project</a:t>
            </a:r>
            <a:endParaRPr lang="en-US" sz="1150"/>
          </a:p>
        </p:txBody>
      </p:sp>
      <p:sp>
        <p:nvSpPr>
          <p:cNvPr id="12" name="Text 10"/>
          <p:cNvSpPr/>
          <p:nvPr/>
        </p:nvSpPr>
        <p:spPr>
          <a:xfrm>
            <a:off x="4754880" y="3648456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Conclusion</a:t>
            </a:r>
            <a:endParaRPr lang="en-US" sz="1150"/>
          </a:p>
        </p:txBody>
      </p:sp>
      <p:sp>
        <p:nvSpPr>
          <p:cNvPr id="13" name="Text 11"/>
          <p:cNvSpPr/>
          <p:nvPr/>
        </p:nvSpPr>
        <p:spPr>
          <a:xfrm>
            <a:off x="4754880" y="4050792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5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150"/>
          </a:p>
        </p:txBody>
      </p:sp>
      <p:sp>
        <p:nvSpPr>
          <p:cNvPr id="14" name="Text 12"/>
          <p:cNvSpPr/>
          <p:nvPr/>
        </p:nvSpPr>
        <p:spPr>
          <a:xfrm>
            <a:off x="284672" y="889383"/>
            <a:ext cx="3996187" cy="3701163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endParaRPr lang="en-US" sz="1200">
              <a:solidFill>
                <a:srgbClr val="1A1A2E"/>
              </a:solidFill>
              <a:ea typeface="+mn-lt"/>
              <a:cs typeface="+mn-lt"/>
            </a:endParaRPr>
          </a:p>
          <a:p>
            <a:pPr marL="171450" indent="-171450" algn="just">
              <a:buFont typeface="Arial"/>
              <a:buChar char="•"/>
            </a:pPr>
            <a:r>
              <a:rPr lang="en-US" sz="1200">
                <a:solidFill>
                  <a:srgbClr val="1A1A2E"/>
                </a:solidFill>
                <a:latin typeface="Times New Roman"/>
                <a:ea typeface="+mn-lt"/>
                <a:cs typeface="Times New Roman"/>
              </a:rPr>
              <a:t>Key findings reveal significant differences across academic streams, with Humanities and Commerce faculty showing higher burnout levels, particularly in psychosomatic complaints and cognitive impairment.</a:t>
            </a:r>
            <a:endParaRPr lang="en-US" sz="1200">
              <a:latin typeface="Times New Roman"/>
              <a:ea typeface="+mn-lt"/>
              <a:cs typeface="Times New Roman"/>
            </a:endParaRPr>
          </a:p>
          <a:p>
            <a:pPr marL="171450" indent="-171450" algn="just">
              <a:buFont typeface="Arial"/>
              <a:buChar char="•"/>
            </a:pPr>
            <a:endParaRPr lang="en-US" sz="1200">
              <a:latin typeface="Times New Roman"/>
              <a:cs typeface="Times New Roman"/>
            </a:endParaRPr>
          </a:p>
          <a:p>
            <a:pPr marL="171450" indent="-171450" algn="just">
              <a:buFont typeface="Arial"/>
              <a:buChar char="•"/>
            </a:pPr>
            <a:r>
              <a:rPr lang="en-US" sz="1200">
                <a:solidFill>
                  <a:srgbClr val="1A1A2E"/>
                </a:solidFill>
                <a:latin typeface="Times New Roman"/>
                <a:ea typeface="+mn-lt"/>
                <a:cs typeface="Times New Roman"/>
              </a:rPr>
              <a:t>All objectives were achieved, including data cleaning, statistical analysis (Cronbach's Alpha, ANOVA, correlation), interactive dashboards in Power BI, and AI integration using Microsoft Copilot.</a:t>
            </a:r>
            <a:endParaRPr lang="en-US" sz="1200">
              <a:latin typeface="Times New Roman"/>
              <a:cs typeface="Times New Roman"/>
            </a:endParaRPr>
          </a:p>
          <a:p>
            <a:pPr marL="171450" indent="-171450" algn="just">
              <a:buFont typeface="Arial"/>
              <a:buChar char="•"/>
            </a:pPr>
            <a:endParaRPr lang="en-US" sz="1200">
              <a:latin typeface="Times New Roman"/>
              <a:cs typeface="Times New Roman"/>
            </a:endParaRPr>
          </a:p>
          <a:p>
            <a:pPr marL="171450" indent="-171450" algn="just">
              <a:buFont typeface="Arial"/>
              <a:buChar char="•"/>
            </a:pPr>
            <a:r>
              <a:rPr lang="en-US" sz="1200">
                <a:solidFill>
                  <a:srgbClr val="1A1A2E"/>
                </a:solidFill>
                <a:latin typeface="Times New Roman"/>
                <a:ea typeface="+mn-lt"/>
                <a:cs typeface="Times New Roman"/>
              </a:rPr>
              <a:t>The project adds value by providing a scalable, evidence-based model for early burnout detection, enabling institutions to implement targeted interventions such as workload management and mental health support.</a:t>
            </a:r>
            <a:endParaRPr lang="en-US" sz="1200">
              <a:latin typeface="Times New Roman"/>
              <a:cs typeface="Times New Roman"/>
            </a:endParaRPr>
          </a:p>
          <a:p>
            <a:pPr marL="171450" indent="-171450" algn="just">
              <a:buFont typeface="Arial"/>
              <a:buChar char="•"/>
            </a:pPr>
            <a:endParaRPr lang="en-US" sz="1200">
              <a:latin typeface="Times New Roman"/>
              <a:cs typeface="Times New Roman"/>
            </a:endParaRPr>
          </a:p>
          <a:p>
            <a:pPr marL="171450" indent="-171450" algn="just">
              <a:buFont typeface="Arial"/>
              <a:buChar char="•"/>
            </a:pPr>
            <a:r>
              <a:rPr lang="en-US" sz="1200">
                <a:solidFill>
                  <a:srgbClr val="1A1A2E"/>
                </a:solidFill>
                <a:latin typeface="Times New Roman"/>
                <a:ea typeface="+mn-lt"/>
                <a:cs typeface="Times New Roman"/>
              </a:rPr>
              <a:t>Overall, this work demonstrates how modern analytics and AI tools can effectively address real-world problems in the Indian higher education sector.</a:t>
            </a:r>
            <a:endParaRPr lang="en-US" sz="1200">
              <a:latin typeface="Times New Roman"/>
              <a:cs typeface="Times New Roman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846320" y="777240"/>
            <a:ext cx="3931920" cy="3931920"/>
          </a:xfrm>
          <a:prstGeom prst="rect">
            <a:avLst/>
          </a:prstGeom>
          <a:solidFill>
            <a:srgbClr val="F7F9FC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94960" y="1005840"/>
            <a:ext cx="2834640" cy="2834640"/>
          </a:xfrm>
          <a:prstGeom prst="ellipse">
            <a:avLst/>
          </a:prstGeom>
          <a:solidFill>
            <a:srgbClr val="1B3A8A"/>
          </a:solidFill>
          <a:ln/>
        </p:spPr>
      </p:sp>
      <p:sp>
        <p:nvSpPr>
          <p:cNvPr id="17" name="Text 15"/>
          <p:cNvSpPr/>
          <p:nvPr/>
        </p:nvSpPr>
        <p:spPr>
          <a:xfrm>
            <a:off x="5394960" y="1005840"/>
            <a:ext cx="28346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>
                <a:solidFill>
                  <a:srgbClr val="000000"/>
                </a:solidFill>
              </a:rPr>
              <a:t>✅</a:t>
            </a:r>
            <a:endParaRPr lang="en-US" sz="6000"/>
          </a:p>
        </p:txBody>
      </p:sp>
      <p:sp>
        <p:nvSpPr>
          <p:cNvPr id="18" name="Shape 16"/>
          <p:cNvSpPr/>
          <p:nvPr/>
        </p:nvSpPr>
        <p:spPr>
          <a:xfrm>
            <a:off x="5303520" y="3474720"/>
            <a:ext cx="3017520" cy="50292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9" name="Text 17"/>
          <p:cNvSpPr/>
          <p:nvPr/>
        </p:nvSpPr>
        <p:spPr>
          <a:xfrm>
            <a:off x="5303520" y="347472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kern="0" spc="2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6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8A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0" y="4572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edunet</a:t>
            </a:r>
            <a:endParaRPr lang="en-US" sz="800"/>
          </a:p>
          <a:p>
            <a:pPr marL="0" indent="0" algn="r">
              <a:buNone/>
            </a:pPr>
            <a:r>
              <a:rPr lang="en-US" sz="800" b="1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800"/>
          </a:p>
        </p:txBody>
      </p:sp>
      <p:sp>
        <p:nvSpPr>
          <p:cNvPr id="4" name="Text 2"/>
          <p:cNvSpPr/>
          <p:nvPr/>
        </p:nvSpPr>
        <p:spPr>
          <a:xfrm>
            <a:off x="320040" y="62179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220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B3A8A"/>
          </a:solidFill>
          <a:ln/>
        </p:spPr>
      </p:sp>
      <p:sp>
        <p:nvSpPr>
          <p:cNvPr id="6" name="Text 4"/>
          <p:cNvSpPr/>
          <p:nvPr/>
        </p:nvSpPr>
        <p:spPr>
          <a:xfrm>
            <a:off x="4754880" y="1234440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5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of the Project</a:t>
            </a:r>
            <a:endParaRPr lang="en-US" sz="1150"/>
          </a:p>
        </p:txBody>
      </p:sp>
      <p:sp>
        <p:nvSpPr>
          <p:cNvPr id="7" name="Text 5"/>
          <p:cNvSpPr/>
          <p:nvPr/>
        </p:nvSpPr>
        <p:spPr>
          <a:xfrm>
            <a:off x="4754880" y="1636776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5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150"/>
          </a:p>
        </p:txBody>
      </p:sp>
      <p:sp>
        <p:nvSpPr>
          <p:cNvPr id="8" name="Text 6"/>
          <p:cNvSpPr/>
          <p:nvPr/>
        </p:nvSpPr>
        <p:spPr>
          <a:xfrm>
            <a:off x="4754880" y="2039112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5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1150"/>
          </a:p>
        </p:txBody>
      </p:sp>
      <p:sp>
        <p:nvSpPr>
          <p:cNvPr id="9" name="Text 7"/>
          <p:cNvSpPr/>
          <p:nvPr/>
        </p:nvSpPr>
        <p:spPr>
          <a:xfrm>
            <a:off x="4754880" y="2441448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5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150"/>
          </a:p>
        </p:txBody>
      </p:sp>
      <p:sp>
        <p:nvSpPr>
          <p:cNvPr id="10" name="Text 8"/>
          <p:cNvSpPr/>
          <p:nvPr/>
        </p:nvSpPr>
        <p:spPr>
          <a:xfrm>
            <a:off x="4754880" y="2843784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5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of the Project</a:t>
            </a:r>
            <a:endParaRPr lang="en-US" sz="1150"/>
          </a:p>
        </p:txBody>
      </p:sp>
      <p:sp>
        <p:nvSpPr>
          <p:cNvPr id="11" name="Text 9"/>
          <p:cNvSpPr/>
          <p:nvPr/>
        </p:nvSpPr>
        <p:spPr>
          <a:xfrm>
            <a:off x="4754880" y="3246120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5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Video of Project</a:t>
            </a:r>
            <a:endParaRPr lang="en-US" sz="1150"/>
          </a:p>
        </p:txBody>
      </p:sp>
      <p:sp>
        <p:nvSpPr>
          <p:cNvPr id="12" name="Text 10"/>
          <p:cNvSpPr/>
          <p:nvPr/>
        </p:nvSpPr>
        <p:spPr>
          <a:xfrm>
            <a:off x="4754880" y="3648456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5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150"/>
          </a:p>
        </p:txBody>
      </p:sp>
      <p:sp>
        <p:nvSpPr>
          <p:cNvPr id="13" name="Text 11"/>
          <p:cNvSpPr/>
          <p:nvPr/>
        </p:nvSpPr>
        <p:spPr>
          <a:xfrm>
            <a:off x="4754880" y="4050792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Future Scope</a:t>
            </a:r>
            <a:endParaRPr lang="en-US" sz="1150"/>
          </a:p>
        </p:txBody>
      </p:sp>
      <p:sp>
        <p:nvSpPr>
          <p:cNvPr id="14" name="Text 12"/>
          <p:cNvSpPr/>
          <p:nvPr/>
        </p:nvSpPr>
        <p:spPr>
          <a:xfrm>
            <a:off x="457200" y="1234440"/>
            <a:ext cx="4114800" cy="34747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285750" indent="-285750" algn="just">
              <a:buFont typeface="Arial"/>
              <a:buChar char="•"/>
            </a:pPr>
            <a:r>
              <a:rPr lang="en-US" sz="1300">
                <a:solidFill>
                  <a:srgbClr val="1A1A2E"/>
                </a:solidFill>
                <a:latin typeface="Times New Roman"/>
                <a:ea typeface="+mn-lt"/>
                <a:cs typeface="Times New Roman"/>
              </a:rPr>
              <a:t>Integrate real-time data pipelines using Power Automate or APIs for live monitoring of burnout levels.</a:t>
            </a:r>
            <a:endParaRPr lang="en-US">
              <a:latin typeface="Times New Roman"/>
              <a:cs typeface="Times New Roman"/>
            </a:endParaRPr>
          </a:p>
          <a:p>
            <a:pPr marL="285750" indent="-285750" algn="just">
              <a:buFont typeface="Arial"/>
              <a:buChar char="•"/>
            </a:pPr>
            <a:r>
              <a:rPr lang="en-US" sz="1300">
                <a:solidFill>
                  <a:srgbClr val="1A1A2E"/>
                </a:solidFill>
                <a:latin typeface="Times New Roman"/>
                <a:ea typeface="+mn-lt"/>
                <a:cs typeface="Times New Roman"/>
              </a:rPr>
              <a:t>Apply machine learning techniques (predictive modeling, anomaly detection) to identify early warning signs of burnout.</a:t>
            </a:r>
            <a:endParaRPr lang="en-US">
              <a:latin typeface="Times New Roman"/>
              <a:cs typeface="Times New Roman"/>
            </a:endParaRPr>
          </a:p>
          <a:p>
            <a:pPr marL="285750" indent="-285750" algn="just">
              <a:buFont typeface="Arial"/>
              <a:buChar char="•"/>
            </a:pPr>
            <a:r>
              <a:rPr lang="en-US" sz="1300">
                <a:solidFill>
                  <a:srgbClr val="1A1A2E"/>
                </a:solidFill>
                <a:latin typeface="Times New Roman"/>
                <a:ea typeface="+mn-lt"/>
                <a:cs typeface="Times New Roman"/>
              </a:rPr>
              <a:t>Develop a web-based dashboard or Power Apps interface for non-technical administrators to access insights easily.</a:t>
            </a:r>
            <a:endParaRPr lang="en-US">
              <a:latin typeface="Times New Roman"/>
              <a:cs typeface="Times New Roman"/>
            </a:endParaRPr>
          </a:p>
          <a:p>
            <a:pPr marL="285750" indent="-285750" algn="just">
              <a:buFont typeface="Arial"/>
              <a:buChar char="•"/>
            </a:pPr>
            <a:r>
              <a:rPr lang="en-US" sz="1300">
                <a:solidFill>
                  <a:srgbClr val="1A1A2E"/>
                </a:solidFill>
                <a:latin typeface="Times New Roman"/>
                <a:ea typeface="+mn-lt"/>
                <a:cs typeface="Times New Roman"/>
              </a:rPr>
              <a:t>Expand the sample size across multiple institutions and cities for better generalizability.</a:t>
            </a:r>
            <a:endParaRPr lang="en-US">
              <a:latin typeface="Times New Roman"/>
              <a:cs typeface="Times New Roman"/>
            </a:endParaRPr>
          </a:p>
          <a:p>
            <a:pPr marL="285750" indent="-285750" algn="just">
              <a:buFont typeface="Arial"/>
              <a:buChar char="•"/>
            </a:pPr>
            <a:r>
              <a:rPr lang="en-US" sz="1300">
                <a:solidFill>
                  <a:srgbClr val="1A1A2E"/>
                </a:solidFill>
                <a:latin typeface="Times New Roman"/>
                <a:ea typeface="+mn-lt"/>
                <a:cs typeface="Times New Roman"/>
              </a:rPr>
              <a:t>Include additional variables such as job satisfaction, work-life balance, and institutional support for deeper analysis.</a:t>
            </a:r>
            <a:endParaRPr lang="en-US">
              <a:latin typeface="Times New Roman"/>
              <a:cs typeface="Times New Roman"/>
            </a:endParaRPr>
          </a:p>
          <a:p>
            <a:pPr marL="285750" indent="-285750" algn="just">
              <a:buFont typeface="Arial"/>
              <a:buChar char="•"/>
            </a:pPr>
            <a:r>
              <a:rPr lang="en-US" sz="1300">
                <a:solidFill>
                  <a:srgbClr val="1A1A2E"/>
                </a:solidFill>
                <a:latin typeface="Times New Roman"/>
                <a:ea typeface="+mn-lt"/>
                <a:cs typeface="Times New Roman"/>
              </a:rPr>
              <a:t>Implement automated reporting systems to generate periodic alerts and summaries for decision-makers.</a:t>
            </a:r>
            <a:endParaRPr lang="en-US"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en-US" sz="1300">
              <a:solidFill>
                <a:srgbClr val="1A1A2E"/>
              </a:solidFill>
              <a:ea typeface="Calibri"/>
              <a:cs typeface="Calibri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846320" y="777240"/>
            <a:ext cx="3931920" cy="3931920"/>
          </a:xfrm>
          <a:prstGeom prst="rect">
            <a:avLst/>
          </a:prstGeom>
          <a:solidFill>
            <a:srgbClr val="F7F9FC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914400"/>
            <a:ext cx="3931920" cy="3794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0">
                <a:solidFill>
                  <a:srgbClr val="000000"/>
                </a:solidFill>
              </a:rPr>
              <a:t>🧠</a:t>
            </a:r>
            <a:endParaRPr lang="en-US" sz="10000"/>
          </a:p>
        </p:txBody>
      </p:sp>
      <p:sp>
        <p:nvSpPr>
          <p:cNvPr id="17" name="Text 15"/>
          <p:cNvSpPr/>
          <p:nvPr/>
        </p:nvSpPr>
        <p:spPr>
          <a:xfrm>
            <a:off x="4846320" y="37033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[Future ideas &amp; roadmap]</a:t>
            </a:r>
            <a:endParaRPr lang="en-US" sz="10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8A"/>
          </a:solidFill>
          <a:ln/>
        </p:spPr>
      </p:sp>
      <p:sp>
        <p:nvSpPr>
          <p:cNvPr id="3" name="Text 1"/>
          <p:cNvSpPr/>
          <p:nvPr/>
        </p:nvSpPr>
        <p:spPr>
          <a:xfrm>
            <a:off x="6305973" y="45720"/>
            <a:ext cx="2746587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edunet</a:t>
            </a:r>
            <a:endParaRPr lang="en-US" sz="800"/>
          </a:p>
          <a:p>
            <a:pPr marL="0" indent="0" algn="r">
              <a:buNone/>
            </a:pPr>
            <a:r>
              <a:rPr lang="en-US" sz="800" b="1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80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7315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7200"/>
          </a:p>
        </p:txBody>
      </p:sp>
      <p:sp>
        <p:nvSpPr>
          <p:cNvPr id="5" name="Text 3"/>
          <p:cNvSpPr/>
          <p:nvPr/>
        </p:nvSpPr>
        <p:spPr>
          <a:xfrm>
            <a:off x="914400" y="3017520"/>
            <a:ext cx="7315200" cy="4114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1400" kern="0" spc="200">
                <a:solidFill>
                  <a:srgbClr val="1565C0"/>
                </a:solidFill>
                <a:latin typeface="Calibri"/>
                <a:ea typeface="Calibri"/>
                <a:cs typeface="Calibri"/>
              </a:rPr>
              <a:t>AICW Fellowship  |  Faculty Project Presentation 2026</a:t>
            </a:r>
            <a:endParaRPr lang="en-US" sz="1400">
              <a:latin typeface="Calibri"/>
              <a:ea typeface="Calibri"/>
              <a:cs typeface="Calibri"/>
            </a:endParaRPr>
          </a:p>
        </p:txBody>
      </p:sp>
      <p:sp>
        <p:nvSpPr>
          <p:cNvPr id="6" name="Text 4"/>
          <p:cNvSpPr/>
          <p:nvPr/>
        </p:nvSpPr>
        <p:spPr>
          <a:xfrm>
            <a:off x="914400" y="3566160"/>
            <a:ext cx="731520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07D8B"/>
                </a:solidFill>
                <a:latin typeface="Calibri"/>
                <a:ea typeface="Calibri"/>
                <a:cs typeface="Calibri"/>
              </a:rPr>
              <a:t>  LinkedIn  |   Edunet Foundation</a:t>
            </a:r>
            <a:endParaRPr lang="en-US" sz="1100"/>
          </a:p>
        </p:txBody>
      </p:sp>
      <p:sp>
        <p:nvSpPr>
          <p:cNvPr id="7" name="Shape 5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B3A8A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1687</Words>
  <Application>Microsoft Office PowerPoint</Application>
  <PresentationFormat>On-screen Show (16:9)</PresentationFormat>
  <Paragraphs>192</Paragraphs>
  <Slides>17</Slides>
  <Notes>11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AICW Student Project Presentation Template 2026</dc:title>
  <dc:subject>PptxGenJS Presentation</dc:subject>
  <dc:creator>PptxGenJS</dc:creator>
  <cp:lastModifiedBy>Kritika</cp:lastModifiedBy>
  <cp:revision>3</cp:revision>
  <dcterms:created xsi:type="dcterms:W3CDTF">2026-02-18T09:17:23Z</dcterms:created>
  <dcterms:modified xsi:type="dcterms:W3CDTF">2026-04-13T07:28:32Z</dcterms:modified>
</cp:coreProperties>
</file>