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68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E672111-EE2D-421B-AB56-3A113DBEFAD2}" v="176" dt="2026-04-15T16:28:10.66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90" d="100"/>
          <a:sy n="90" d="100"/>
        </p:scale>
        <p:origin x="-816" y="-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ehra Aman" userId="6a074406e09099cd" providerId="Windows Live" clId="Web-{C7164EC5-E7D9-46FF-A526-E7CB1F326914}"/>
    <pc:docChg chg="modSld">
      <pc:chgData name="Zehra Aman" userId="6a074406e09099cd" providerId="Windows Live" clId="Web-{C7164EC5-E7D9-46FF-A526-E7CB1F326914}" dt="2026-04-08T17:47:39.972" v="238" actId="1076"/>
      <pc:docMkLst>
        <pc:docMk/>
      </pc:docMkLst>
      <pc:sldChg chg="addSp delSp modSp">
        <pc:chgData name="Zehra Aman" userId="6a074406e09099cd" providerId="Windows Live" clId="Web-{C7164EC5-E7D9-46FF-A526-E7CB1F326914}" dt="2026-04-08T17:25:48.009" v="47" actId="20577"/>
        <pc:sldMkLst>
          <pc:docMk/>
          <pc:sldMk cId="0" sldId="256"/>
        </pc:sldMkLst>
        <pc:spChg chg="mod">
          <ac:chgData name="Zehra Aman" userId="6a074406e09099cd" providerId="Windows Live" clId="Web-{C7164EC5-E7D9-46FF-A526-E7CB1F326914}" dt="2026-04-08T17:24:31.727" v="3" actId="20577"/>
          <ac:spMkLst>
            <pc:docMk/>
            <pc:sldMk cId="0" sldId="256"/>
            <ac:spMk id="12" creationId="{00000000-0000-0000-0000-000000000000}"/>
          </ac:spMkLst>
        </pc:spChg>
        <pc:spChg chg="mod">
          <ac:chgData name="Zehra Aman" userId="6a074406e09099cd" providerId="Windows Live" clId="Web-{C7164EC5-E7D9-46FF-A526-E7CB1F326914}" dt="2026-04-08T17:24:50.164" v="15" actId="20577"/>
          <ac:spMkLst>
            <pc:docMk/>
            <pc:sldMk cId="0" sldId="256"/>
            <ac:spMk id="19" creationId="{00000000-0000-0000-0000-000000000000}"/>
          </ac:spMkLst>
        </pc:spChg>
        <pc:spChg chg="mod">
          <ac:chgData name="Zehra Aman" userId="6a074406e09099cd" providerId="Windows Live" clId="Web-{C7164EC5-E7D9-46FF-A526-E7CB1F326914}" dt="2026-04-08T17:25:18.134" v="38" actId="20577"/>
          <ac:spMkLst>
            <pc:docMk/>
            <pc:sldMk cId="0" sldId="256"/>
            <ac:spMk id="23" creationId="{00000000-0000-0000-0000-000000000000}"/>
          </ac:spMkLst>
        </pc:spChg>
        <pc:spChg chg="add del mod">
          <ac:chgData name="Zehra Aman" userId="6a074406e09099cd" providerId="Windows Live" clId="Web-{C7164EC5-E7D9-46FF-A526-E7CB1F326914}" dt="2026-04-08T17:25:48.009" v="47" actId="20577"/>
          <ac:spMkLst>
            <pc:docMk/>
            <pc:sldMk cId="0" sldId="256"/>
            <ac:spMk id="27" creationId="{00000000-0000-0000-0000-000000000000}"/>
          </ac:spMkLst>
        </pc:spChg>
      </pc:sldChg>
      <pc:sldChg chg="addSp delSp modSp">
        <pc:chgData name="Zehra Aman" userId="6a074406e09099cd" providerId="Windows Live" clId="Web-{C7164EC5-E7D9-46FF-A526-E7CB1F326914}" dt="2026-04-08T17:28:44.093" v="65" actId="20577"/>
        <pc:sldMkLst>
          <pc:docMk/>
          <pc:sldMk cId="0" sldId="258"/>
        </pc:sldMkLst>
        <pc:spChg chg="add mod">
          <ac:chgData name="Zehra Aman" userId="6a074406e09099cd" providerId="Windows Live" clId="Web-{C7164EC5-E7D9-46FF-A526-E7CB1F326914}" dt="2026-04-08T17:28:44.093" v="65" actId="20577"/>
          <ac:spMkLst>
            <pc:docMk/>
            <pc:sldMk cId="0" sldId="258"/>
            <ac:spMk id="6" creationId="{B589379F-EE5D-C593-AC4C-F758AE30079C}"/>
          </ac:spMkLst>
        </pc:spChg>
      </pc:sldChg>
      <pc:sldChg chg="addSp delSp modSp">
        <pc:chgData name="Zehra Aman" userId="6a074406e09099cd" providerId="Windows Live" clId="Web-{C7164EC5-E7D9-46FF-A526-E7CB1F326914}" dt="2026-04-08T17:47:39.972" v="238" actId="1076"/>
        <pc:sldMkLst>
          <pc:docMk/>
          <pc:sldMk cId="0" sldId="259"/>
        </pc:sldMkLst>
        <pc:spChg chg="add mod">
          <ac:chgData name="Zehra Aman" userId="6a074406e09099cd" providerId="Windows Live" clId="Web-{C7164EC5-E7D9-46FF-A526-E7CB1F326914}" dt="2026-04-08T17:47:39.972" v="238" actId="1076"/>
          <ac:spMkLst>
            <pc:docMk/>
            <pc:sldMk cId="0" sldId="259"/>
            <ac:spMk id="6" creationId="{A440500A-934A-94D1-100B-CDE66533946B}"/>
          </ac:spMkLst>
        </pc:spChg>
      </pc:sldChg>
      <pc:sldChg chg="modSp">
        <pc:chgData name="Zehra Aman" userId="6a074406e09099cd" providerId="Windows Live" clId="Web-{C7164EC5-E7D9-46FF-A526-E7CB1F326914}" dt="2026-04-08T17:35:36.650" v="122" actId="20577"/>
        <pc:sldMkLst>
          <pc:docMk/>
          <pc:sldMk cId="0" sldId="260"/>
        </pc:sldMkLst>
        <pc:spChg chg="mod">
          <ac:chgData name="Zehra Aman" userId="6a074406e09099cd" providerId="Windows Live" clId="Web-{C7164EC5-E7D9-46FF-A526-E7CB1F326914}" dt="2026-04-08T17:35:36.650" v="122" actId="20577"/>
          <ac:spMkLst>
            <pc:docMk/>
            <pc:sldMk cId="0" sldId="260"/>
            <ac:spMk id="14" creationId="{00000000-0000-0000-0000-000000000000}"/>
          </ac:spMkLst>
        </pc:spChg>
      </pc:sldChg>
      <pc:sldChg chg="addSp modSp">
        <pc:chgData name="Zehra Aman" userId="6a074406e09099cd" providerId="Windows Live" clId="Web-{C7164EC5-E7D9-46FF-A526-E7CB1F326914}" dt="2026-04-08T17:42:17.707" v="180" actId="1076"/>
        <pc:sldMkLst>
          <pc:docMk/>
          <pc:sldMk cId="0" sldId="262"/>
        </pc:sldMkLst>
        <pc:spChg chg="mod">
          <ac:chgData name="Zehra Aman" userId="6a074406e09099cd" providerId="Windows Live" clId="Web-{C7164EC5-E7D9-46FF-A526-E7CB1F326914}" dt="2026-04-08T17:39:21.249" v="137" actId="1076"/>
          <ac:spMkLst>
            <pc:docMk/>
            <pc:sldMk cId="0" sldId="262"/>
            <ac:spMk id="10" creationId="{00000000-0000-0000-0000-000000000000}"/>
          </ac:spMkLst>
        </pc:spChg>
        <pc:spChg chg="mod">
          <ac:chgData name="Zehra Aman" userId="6a074406e09099cd" providerId="Windows Live" clId="Web-{C7164EC5-E7D9-46FF-A526-E7CB1F326914}" dt="2026-04-08T17:40:08.690" v="152" actId="1076"/>
          <ac:spMkLst>
            <pc:docMk/>
            <pc:sldMk cId="0" sldId="262"/>
            <ac:spMk id="15" creationId="{00000000-0000-0000-0000-000000000000}"/>
          </ac:spMkLst>
        </pc:spChg>
        <pc:spChg chg="mod">
          <ac:chgData name="Zehra Aman" userId="6a074406e09099cd" providerId="Windows Live" clId="Web-{C7164EC5-E7D9-46FF-A526-E7CB1F326914}" dt="2026-04-08T17:41:01.800" v="153" actId="20577"/>
          <ac:spMkLst>
            <pc:docMk/>
            <pc:sldMk cId="0" sldId="262"/>
            <ac:spMk id="16" creationId="{00000000-0000-0000-0000-000000000000}"/>
          </ac:spMkLst>
        </pc:spChg>
        <pc:spChg chg="mod">
          <ac:chgData name="Zehra Aman" userId="6a074406e09099cd" providerId="Windows Live" clId="Web-{C7164EC5-E7D9-46FF-A526-E7CB1F326914}" dt="2026-04-08T17:42:14.082" v="179" actId="1076"/>
          <ac:spMkLst>
            <pc:docMk/>
            <pc:sldMk cId="0" sldId="262"/>
            <ac:spMk id="20" creationId="{00000000-0000-0000-0000-000000000000}"/>
          </ac:spMkLst>
        </pc:spChg>
        <pc:spChg chg="mod">
          <ac:chgData name="Zehra Aman" userId="6a074406e09099cd" providerId="Windows Live" clId="Web-{C7164EC5-E7D9-46FF-A526-E7CB1F326914}" dt="2026-04-08T17:42:01.066" v="175" actId="20577"/>
          <ac:spMkLst>
            <pc:docMk/>
            <pc:sldMk cId="0" sldId="262"/>
            <ac:spMk id="21" creationId="{00000000-0000-0000-0000-000000000000}"/>
          </ac:spMkLst>
        </pc:spChg>
        <pc:picChg chg="add mod">
          <ac:chgData name="Zehra Aman" userId="6a074406e09099cd" providerId="Windows Live" clId="Web-{C7164EC5-E7D9-46FF-A526-E7CB1F326914}" dt="2026-04-08T17:39:46.672" v="143" actId="1076"/>
          <ac:picMkLst>
            <pc:docMk/>
            <pc:sldMk cId="0" sldId="262"/>
            <ac:picMk id="22" creationId="{43EFA358-4227-CFFF-A4FB-0BFAA7BA8248}"/>
          </ac:picMkLst>
        </pc:picChg>
        <pc:picChg chg="add mod">
          <ac:chgData name="Zehra Aman" userId="6a074406e09099cd" providerId="Windows Live" clId="Web-{C7164EC5-E7D9-46FF-A526-E7CB1F326914}" dt="2026-04-08T17:42:17.707" v="180" actId="1076"/>
          <ac:picMkLst>
            <pc:docMk/>
            <pc:sldMk cId="0" sldId="262"/>
            <ac:picMk id="24" creationId="{4CB245B2-4EAF-3A4C-9005-CAD83DDFE463}"/>
          </ac:picMkLst>
        </pc:picChg>
      </pc:sldChg>
      <pc:sldChg chg="modSp">
        <pc:chgData name="Zehra Aman" userId="6a074406e09099cd" providerId="Windows Live" clId="Web-{C7164EC5-E7D9-46FF-A526-E7CB1F326914}" dt="2026-04-08T17:45:24.133" v="228" actId="1076"/>
        <pc:sldMkLst>
          <pc:docMk/>
          <pc:sldMk cId="0" sldId="264"/>
        </pc:sldMkLst>
        <pc:spChg chg="mod">
          <ac:chgData name="Zehra Aman" userId="6a074406e09099cd" providerId="Windows Live" clId="Web-{C7164EC5-E7D9-46FF-A526-E7CB1F326914}" dt="2026-04-08T17:45:24.133" v="228" actId="1076"/>
          <ac:spMkLst>
            <pc:docMk/>
            <pc:sldMk cId="0" sldId="264"/>
            <ac:spMk id="14" creationId="{00000000-0000-0000-0000-000000000000}"/>
          </ac:spMkLst>
        </pc:spChg>
      </pc:sldChg>
      <pc:sldChg chg="modSp">
        <pc:chgData name="Zehra Aman" userId="6a074406e09099cd" providerId="Windows Live" clId="Web-{C7164EC5-E7D9-46FF-A526-E7CB1F326914}" dt="2026-04-08T17:46:51.156" v="233" actId="20577"/>
        <pc:sldMkLst>
          <pc:docMk/>
          <pc:sldMk cId="0" sldId="265"/>
        </pc:sldMkLst>
        <pc:spChg chg="mod">
          <ac:chgData name="Zehra Aman" userId="6a074406e09099cd" providerId="Windows Live" clId="Web-{C7164EC5-E7D9-46FF-A526-E7CB1F326914}" dt="2026-04-08T17:46:51.156" v="233" actId="20577"/>
          <ac:spMkLst>
            <pc:docMk/>
            <pc:sldMk cId="0" sldId="265"/>
            <ac:spMk id="14" creationId="{00000000-0000-0000-0000-000000000000}"/>
          </ac:spMkLst>
        </pc:spChg>
      </pc:sldChg>
    </pc:docChg>
  </pc:docChgLst>
  <pc:docChgLst>
    <pc:chgData name="Zehra Aman" userId="6a074406e09099cd" providerId="Windows Live" clId="Web-{EE672111-EE2D-421B-AB56-3A113DBEFAD2}"/>
    <pc:docChg chg="addSld delSld modSld">
      <pc:chgData name="Zehra Aman" userId="6a074406e09099cd" providerId="Windows Live" clId="Web-{EE672111-EE2D-421B-AB56-3A113DBEFAD2}" dt="2026-04-15T16:28:10.660" v="101"/>
      <pc:docMkLst>
        <pc:docMk/>
      </pc:docMkLst>
      <pc:sldChg chg="add del">
        <pc:chgData name="Zehra Aman" userId="6a074406e09099cd" providerId="Windows Live" clId="Web-{EE672111-EE2D-421B-AB56-3A113DBEFAD2}" dt="2026-04-15T16:28:10.660" v="101"/>
        <pc:sldMkLst>
          <pc:docMk/>
          <pc:sldMk cId="0" sldId="256"/>
        </pc:sldMkLst>
      </pc:sldChg>
      <pc:sldChg chg="addSp delSp modSp add">
        <pc:chgData name="Zehra Aman" userId="6a074406e09099cd" providerId="Windows Live" clId="Web-{EE672111-EE2D-421B-AB56-3A113DBEFAD2}" dt="2026-04-15T16:27:41.129" v="100" actId="1076"/>
        <pc:sldMkLst>
          <pc:docMk/>
          <pc:sldMk cId="121223606" sldId="268"/>
        </pc:sldMkLst>
        <pc:spChg chg="add mod">
          <ac:chgData name="Zehra Aman" userId="6a074406e09099cd" providerId="Windows Live" clId="Web-{EE672111-EE2D-421B-AB56-3A113DBEFAD2}" dt="2026-04-15T16:24:29.655" v="33" actId="1076"/>
          <ac:spMkLst>
            <pc:docMk/>
            <pc:sldMk cId="121223606" sldId="268"/>
            <ac:spMk id="27" creationId="{6C670A56-5638-9E71-B47A-AB3A938CEE29}"/>
          </ac:spMkLst>
        </pc:spChg>
        <pc:spChg chg="mod">
          <ac:chgData name="Zehra Aman" userId="6a074406e09099cd" providerId="Windows Live" clId="Web-{EE672111-EE2D-421B-AB56-3A113DBEFAD2}" dt="2026-04-15T16:26:03.236" v="72" actId="1076"/>
          <ac:spMkLst>
            <pc:docMk/>
            <pc:sldMk cId="121223606" sldId="268"/>
            <ac:spMk id="40" creationId="{EEE29F0A-1253-B8CE-E742-41B8B6EB922D}"/>
          </ac:spMkLst>
        </pc:spChg>
        <pc:spChg chg="mod">
          <ac:chgData name="Zehra Aman" userId="6a074406e09099cd" providerId="Windows Live" clId="Web-{EE672111-EE2D-421B-AB56-3A113DBEFAD2}" dt="2026-04-15T16:26:46.784" v="91" actId="20577"/>
          <ac:spMkLst>
            <pc:docMk/>
            <pc:sldMk cId="121223606" sldId="268"/>
            <ac:spMk id="42" creationId="{2E9FAC26-1E84-D690-0FD4-B1A364AF40DE}"/>
          </ac:spMkLst>
        </pc:spChg>
        <pc:spChg chg="add del mod">
          <ac:chgData name="Zehra Aman" userId="6a074406e09099cd" providerId="Windows Live" clId="Web-{EE672111-EE2D-421B-AB56-3A113DBEFAD2}" dt="2026-04-15T16:27:41.129" v="100" actId="1076"/>
          <ac:spMkLst>
            <pc:docMk/>
            <pc:sldMk cId="121223606" sldId="268"/>
            <ac:spMk id="43" creationId="{B84F91E2-C42E-10B3-A03A-88AA58AF1258}"/>
          </ac:spMkLst>
        </pc:spChg>
        <pc:spChg chg="topLvl">
          <ac:chgData name="Zehra Aman" userId="6a074406e09099cd" providerId="Windows Live" clId="Web-{EE672111-EE2D-421B-AB56-3A113DBEFAD2}" dt="2026-04-15T16:23:15.778" v="11"/>
          <ac:spMkLst>
            <pc:docMk/>
            <pc:sldMk cId="121223606" sldId="268"/>
            <ac:spMk id="67" creationId="{5FE6F280-D970-382B-5260-25E219F86722}"/>
          </ac:spMkLst>
        </pc:spChg>
        <pc:spChg chg="del topLvl">
          <ac:chgData name="Zehra Aman" userId="6a074406e09099cd" providerId="Windows Live" clId="Web-{EE672111-EE2D-421B-AB56-3A113DBEFAD2}" dt="2026-04-15T16:23:15.778" v="11"/>
          <ac:spMkLst>
            <pc:docMk/>
            <pc:sldMk cId="121223606" sldId="268"/>
            <ac:spMk id="68" creationId="{A541DFB6-306C-CD3E-24BD-6D7131F87B73}"/>
          </ac:spMkLst>
        </pc:spChg>
        <pc:grpChg chg="del">
          <ac:chgData name="Zehra Aman" userId="6a074406e09099cd" providerId="Windows Live" clId="Web-{EE672111-EE2D-421B-AB56-3A113DBEFAD2}" dt="2026-04-15T16:23:15.778" v="11"/>
          <ac:grpSpMkLst>
            <pc:docMk/>
            <pc:sldMk cId="121223606" sldId="268"/>
            <ac:grpSpMk id="66" creationId="{658A7A12-122B-4A3C-11D3-C4D8BF732077}"/>
          </ac:grpSpMkLst>
        </pc:grpChg>
        <pc:graphicFrameChg chg="mod modGraphic">
          <ac:chgData name="Zehra Aman" userId="6a074406e09099cd" providerId="Windows Live" clId="Web-{EE672111-EE2D-421B-AB56-3A113DBEFAD2}" dt="2026-04-15T16:26:58.190" v="95"/>
          <ac:graphicFrameMkLst>
            <pc:docMk/>
            <pc:sldMk cId="121223606" sldId="268"/>
            <ac:graphicFrameMk id="26" creationId="{C81DED0E-8121-4A62-5E99-A69B8B50AA1B}"/>
          </ac:graphicFrameMkLst>
        </pc:graphicFrameChg>
        <pc:picChg chg="mod">
          <ac:chgData name="Zehra Aman" userId="6a074406e09099cd" providerId="Windows Live" clId="Web-{EE672111-EE2D-421B-AB56-3A113DBEFAD2}" dt="2026-04-15T16:26:21.877" v="74" actId="1076"/>
          <ac:picMkLst>
            <pc:docMk/>
            <pc:sldMk cId="121223606" sldId="268"/>
            <ac:picMk id="50" creationId="{C926F708-70B7-B0DB-A148-0FA2830D925D}"/>
          </ac:picMkLst>
        </pc:picChg>
      </pc:sldChg>
      <pc:sldMasterChg chg="addSldLayout">
        <pc:chgData name="Zehra Aman" userId="6a074406e09099cd" providerId="Windows Live" clId="Web-{EE672111-EE2D-421B-AB56-3A113DBEFAD2}" dt="2026-04-15T16:22:27.291" v="0"/>
        <pc:sldMasterMkLst>
          <pc:docMk/>
          <pc:sldMasterMk cId="0" sldId="2147483648"/>
        </pc:sldMasterMkLst>
        <pc:sldLayoutChg chg="add">
          <pc:chgData name="Zehra Aman" userId="6a074406e09099cd" providerId="Windows Live" clId="Web-{EE672111-EE2D-421B-AB56-3A113DBEFAD2}" dt="2026-04-15T16:22:27.291" v="0"/>
          <pc:sldLayoutMkLst>
            <pc:docMk/>
            <pc:sldMasterMk cId="0" sldId="2147483648"/>
            <pc:sldLayoutMk cId="1475598820" sldId="2147483650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06544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6B537A-B4DE-D1CE-3512-BCBDE4AC7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8C2033-F357-E6BE-5BF1-877BC1AD1B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567B0F-4F1D-ECFE-050E-B551ABF85E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398896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14755988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svg"/><Relationship Id="rId9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E219A4-F5CF-3B84-A831-006143830D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id="{5BBAA9FE-14A6-3635-BDE0-21E75B60255D}"/>
              </a:ext>
            </a:extLst>
          </p:cNvPr>
          <p:cNvSpPr/>
          <p:nvPr/>
        </p:nvSpPr>
        <p:spPr>
          <a:xfrm>
            <a:off x="364882" y="652908"/>
            <a:ext cx="3603333" cy="485021"/>
          </a:xfrm>
          <a:prstGeom prst="roundRect">
            <a:avLst/>
          </a:prstGeom>
          <a:solidFill>
            <a:schemeClr val="bg1"/>
          </a:solidFill>
          <a:ln>
            <a:solidFill>
              <a:srgbClr val="1D63B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DC713F69-E6DD-B345-33D3-499B008F7A17}"/>
              </a:ext>
            </a:extLst>
          </p:cNvPr>
          <p:cNvGrpSpPr/>
          <p:nvPr/>
        </p:nvGrpSpPr>
        <p:grpSpPr>
          <a:xfrm>
            <a:off x="0" y="0"/>
            <a:ext cx="4153368" cy="126178"/>
            <a:chOff x="0" y="0"/>
            <a:chExt cx="2187782" cy="66464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16F12EA0-AE27-85D3-96E6-BED52A471BC9}"/>
                </a:ext>
              </a:extLst>
            </p:cNvPr>
            <p:cNvSpPr/>
            <p:nvPr/>
          </p:nvSpPr>
          <p:spPr>
            <a:xfrm>
              <a:off x="0" y="0"/>
              <a:ext cx="2187782" cy="66464"/>
            </a:xfrm>
            <a:custGeom>
              <a:avLst/>
              <a:gdLst/>
              <a:ahLst/>
              <a:cxnLst/>
              <a:rect l="l" t="t" r="r" b="b"/>
              <a:pathLst>
                <a:path w="2187782" h="66464">
                  <a:moveTo>
                    <a:pt x="0" y="0"/>
                  </a:moveTo>
                  <a:lnTo>
                    <a:pt x="2187782" y="0"/>
                  </a:lnTo>
                  <a:lnTo>
                    <a:pt x="2187782" y="66464"/>
                  </a:lnTo>
                  <a:lnTo>
                    <a:pt x="0" y="66464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EEDED881-7208-D373-6128-A08573FEEA11}"/>
                </a:ext>
              </a:extLst>
            </p:cNvPr>
            <p:cNvSpPr txBox="1"/>
            <p:nvPr/>
          </p:nvSpPr>
          <p:spPr>
            <a:xfrm>
              <a:off x="0" y="-38100"/>
              <a:ext cx="2187782" cy="104564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071C7EC6-7D4C-F061-CDE0-6A50914ECB9E}"/>
              </a:ext>
            </a:extLst>
          </p:cNvPr>
          <p:cNvGrpSpPr/>
          <p:nvPr/>
        </p:nvGrpSpPr>
        <p:grpSpPr>
          <a:xfrm>
            <a:off x="0" y="5017322"/>
            <a:ext cx="7571294" cy="126178"/>
            <a:chOff x="0" y="0"/>
            <a:chExt cx="3988171" cy="66464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B4AD79D7-46FD-6B0C-7DE4-FF78018F4A88}"/>
                </a:ext>
              </a:extLst>
            </p:cNvPr>
            <p:cNvSpPr/>
            <p:nvPr/>
          </p:nvSpPr>
          <p:spPr>
            <a:xfrm>
              <a:off x="0" y="0"/>
              <a:ext cx="3988171" cy="66464"/>
            </a:xfrm>
            <a:custGeom>
              <a:avLst/>
              <a:gdLst/>
              <a:ahLst/>
              <a:cxnLst/>
              <a:rect l="l" t="t" r="r" b="b"/>
              <a:pathLst>
                <a:path w="3988171" h="66464">
                  <a:moveTo>
                    <a:pt x="0" y="0"/>
                  </a:moveTo>
                  <a:lnTo>
                    <a:pt x="3988171" y="0"/>
                  </a:lnTo>
                  <a:lnTo>
                    <a:pt x="3988171" y="66464"/>
                  </a:lnTo>
                  <a:lnTo>
                    <a:pt x="0" y="66464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C396E051-FCE8-96D0-093A-9DAA0B6CA32C}"/>
                </a:ext>
              </a:extLst>
            </p:cNvPr>
            <p:cNvSpPr txBox="1"/>
            <p:nvPr/>
          </p:nvSpPr>
          <p:spPr>
            <a:xfrm>
              <a:off x="0" y="-38100"/>
              <a:ext cx="3988171" cy="104564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614E0FB1-7343-AA0B-7107-6EF9941BD391}"/>
              </a:ext>
            </a:extLst>
          </p:cNvPr>
          <p:cNvGrpSpPr/>
          <p:nvPr/>
        </p:nvGrpSpPr>
        <p:grpSpPr>
          <a:xfrm rot="2700000">
            <a:off x="3661769" y="-528997"/>
            <a:ext cx="4602320" cy="2123257"/>
            <a:chOff x="0" y="0"/>
            <a:chExt cx="2424267" cy="1118423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8AFFC971-D518-DC63-82CA-066EEEE8BD9D}"/>
                </a:ext>
              </a:extLst>
            </p:cNvPr>
            <p:cNvSpPr/>
            <p:nvPr/>
          </p:nvSpPr>
          <p:spPr>
            <a:xfrm>
              <a:off x="0" y="0"/>
              <a:ext cx="2424267" cy="1118423"/>
            </a:xfrm>
            <a:custGeom>
              <a:avLst/>
              <a:gdLst/>
              <a:ahLst/>
              <a:cxnLst/>
              <a:rect l="l" t="t" r="r" b="b"/>
              <a:pathLst>
                <a:path w="2424267" h="1118423">
                  <a:moveTo>
                    <a:pt x="0" y="0"/>
                  </a:moveTo>
                  <a:lnTo>
                    <a:pt x="2424267" y="0"/>
                  </a:lnTo>
                  <a:lnTo>
                    <a:pt x="2424267" y="1118423"/>
                  </a:lnTo>
                  <a:lnTo>
                    <a:pt x="0" y="1118423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EF1F892B-32CB-D20F-CD5E-29D9DD282E0B}"/>
                </a:ext>
              </a:extLst>
            </p:cNvPr>
            <p:cNvSpPr txBox="1"/>
            <p:nvPr/>
          </p:nvSpPr>
          <p:spPr>
            <a:xfrm>
              <a:off x="0" y="-38100"/>
              <a:ext cx="2424267" cy="1156523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0903312A-41E4-0C98-DB5C-2FD31C761F00}"/>
              </a:ext>
            </a:extLst>
          </p:cNvPr>
          <p:cNvGrpSpPr/>
          <p:nvPr/>
        </p:nvGrpSpPr>
        <p:grpSpPr>
          <a:xfrm rot="2700000">
            <a:off x="5632358" y="303921"/>
            <a:ext cx="3724082" cy="1064394"/>
            <a:chOff x="0" y="0"/>
            <a:chExt cx="1961656" cy="560668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A8440D19-D63B-AF33-3EAE-F2B37D5CF256}"/>
                </a:ext>
              </a:extLst>
            </p:cNvPr>
            <p:cNvSpPr/>
            <p:nvPr/>
          </p:nvSpPr>
          <p:spPr>
            <a:xfrm>
              <a:off x="0" y="0"/>
              <a:ext cx="1961656" cy="560668"/>
            </a:xfrm>
            <a:custGeom>
              <a:avLst/>
              <a:gdLst/>
              <a:ahLst/>
              <a:cxnLst/>
              <a:rect l="l" t="t" r="r" b="b"/>
              <a:pathLst>
                <a:path w="1961656" h="560668">
                  <a:moveTo>
                    <a:pt x="0" y="0"/>
                  </a:moveTo>
                  <a:lnTo>
                    <a:pt x="1961656" y="0"/>
                  </a:lnTo>
                  <a:lnTo>
                    <a:pt x="1961656" y="560668"/>
                  </a:lnTo>
                  <a:lnTo>
                    <a:pt x="0" y="560668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70297523-D0C9-81EB-FA45-802E3E7D096A}"/>
                </a:ext>
              </a:extLst>
            </p:cNvPr>
            <p:cNvSpPr txBox="1"/>
            <p:nvPr/>
          </p:nvSpPr>
          <p:spPr>
            <a:xfrm>
              <a:off x="0" y="-38100"/>
              <a:ext cx="1961656" cy="598768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3AF039C7-166F-DC3C-FD40-F2CACE3926F2}"/>
              </a:ext>
            </a:extLst>
          </p:cNvPr>
          <p:cNvGrpSpPr/>
          <p:nvPr/>
        </p:nvGrpSpPr>
        <p:grpSpPr>
          <a:xfrm rot="2700000">
            <a:off x="7528217" y="-892816"/>
            <a:ext cx="2873959" cy="1967021"/>
            <a:chOff x="0" y="0"/>
            <a:chExt cx="1513855" cy="1036126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166C2FB9-D184-461A-308A-1F6AFD5F7BBF}"/>
                </a:ext>
              </a:extLst>
            </p:cNvPr>
            <p:cNvSpPr/>
            <p:nvPr/>
          </p:nvSpPr>
          <p:spPr>
            <a:xfrm>
              <a:off x="0" y="0"/>
              <a:ext cx="1513855" cy="1036126"/>
            </a:xfrm>
            <a:custGeom>
              <a:avLst/>
              <a:gdLst/>
              <a:ahLst/>
              <a:cxnLst/>
              <a:rect l="l" t="t" r="r" b="b"/>
              <a:pathLst>
                <a:path w="1513855" h="1036126">
                  <a:moveTo>
                    <a:pt x="0" y="0"/>
                  </a:moveTo>
                  <a:lnTo>
                    <a:pt x="1513855" y="0"/>
                  </a:lnTo>
                  <a:lnTo>
                    <a:pt x="1513855" y="1036126"/>
                  </a:lnTo>
                  <a:lnTo>
                    <a:pt x="0" y="1036126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D78B5C6B-C409-CCBB-2B06-FBD31CAC99E4}"/>
                </a:ext>
              </a:extLst>
            </p:cNvPr>
            <p:cNvSpPr txBox="1"/>
            <p:nvPr/>
          </p:nvSpPr>
          <p:spPr>
            <a:xfrm>
              <a:off x="0" y="-38100"/>
              <a:ext cx="1513855" cy="1074226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BB6CD3B7-9C29-31B7-074F-1C8E56CB1626}"/>
              </a:ext>
            </a:extLst>
          </p:cNvPr>
          <p:cNvGrpSpPr/>
          <p:nvPr/>
        </p:nvGrpSpPr>
        <p:grpSpPr>
          <a:xfrm rot="2700000">
            <a:off x="6756840" y="4003698"/>
            <a:ext cx="4602320" cy="2123257"/>
            <a:chOff x="0" y="0"/>
            <a:chExt cx="2424267" cy="1118423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059C69CD-FBFA-E4B4-AA86-445D5367D190}"/>
                </a:ext>
              </a:extLst>
            </p:cNvPr>
            <p:cNvSpPr/>
            <p:nvPr/>
          </p:nvSpPr>
          <p:spPr>
            <a:xfrm>
              <a:off x="0" y="0"/>
              <a:ext cx="2424267" cy="1118423"/>
            </a:xfrm>
            <a:custGeom>
              <a:avLst/>
              <a:gdLst/>
              <a:ahLst/>
              <a:cxnLst/>
              <a:rect l="l" t="t" r="r" b="b"/>
              <a:pathLst>
                <a:path w="2424267" h="1118423">
                  <a:moveTo>
                    <a:pt x="0" y="0"/>
                  </a:moveTo>
                  <a:lnTo>
                    <a:pt x="2424267" y="0"/>
                  </a:lnTo>
                  <a:lnTo>
                    <a:pt x="2424267" y="1118423"/>
                  </a:lnTo>
                  <a:lnTo>
                    <a:pt x="0" y="1118423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3FFFD043-6DDC-803C-1EE7-E745D2CD7192}"/>
                </a:ext>
              </a:extLst>
            </p:cNvPr>
            <p:cNvSpPr txBox="1"/>
            <p:nvPr/>
          </p:nvSpPr>
          <p:spPr>
            <a:xfrm>
              <a:off x="0" y="-38100"/>
              <a:ext cx="2424267" cy="1156523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40B8BCE7-F5DB-C74D-120E-15FE119805F6}"/>
              </a:ext>
            </a:extLst>
          </p:cNvPr>
          <p:cNvGrpSpPr/>
          <p:nvPr/>
        </p:nvGrpSpPr>
        <p:grpSpPr>
          <a:xfrm rot="2700000">
            <a:off x="7842195" y="3672519"/>
            <a:ext cx="2166949" cy="1126189"/>
            <a:chOff x="0" y="0"/>
            <a:chExt cx="1141438" cy="59321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7CCA289A-B33A-364F-D970-B4B0741374DB}"/>
                </a:ext>
              </a:extLst>
            </p:cNvPr>
            <p:cNvSpPr/>
            <p:nvPr/>
          </p:nvSpPr>
          <p:spPr>
            <a:xfrm>
              <a:off x="0" y="0"/>
              <a:ext cx="1141438" cy="593219"/>
            </a:xfrm>
            <a:custGeom>
              <a:avLst/>
              <a:gdLst/>
              <a:ahLst/>
              <a:cxnLst/>
              <a:rect l="l" t="t" r="r" b="b"/>
              <a:pathLst>
                <a:path w="1141438" h="593219">
                  <a:moveTo>
                    <a:pt x="0" y="0"/>
                  </a:moveTo>
                  <a:lnTo>
                    <a:pt x="1141438" y="0"/>
                  </a:lnTo>
                  <a:lnTo>
                    <a:pt x="1141438" y="593219"/>
                  </a:lnTo>
                  <a:lnTo>
                    <a:pt x="0" y="593219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6D1B43F8-87A5-2EDD-F149-BE82A2984EB5}"/>
                </a:ext>
              </a:extLst>
            </p:cNvPr>
            <p:cNvSpPr txBox="1"/>
            <p:nvPr/>
          </p:nvSpPr>
          <p:spPr>
            <a:xfrm>
              <a:off x="0" y="-38100"/>
              <a:ext cx="1141438" cy="631319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2ABF0622-9241-CD75-6B4F-4578A248FF9B}"/>
              </a:ext>
            </a:extLst>
          </p:cNvPr>
          <p:cNvGrpSpPr/>
          <p:nvPr/>
        </p:nvGrpSpPr>
        <p:grpSpPr>
          <a:xfrm>
            <a:off x="5720497" y="768985"/>
            <a:ext cx="3475712" cy="3475712"/>
            <a:chOff x="0" y="0"/>
            <a:chExt cx="812800" cy="812800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0A81DF20-399E-AF89-89B0-FC2CA2FD016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574675" y="0"/>
                  </a:moveTo>
                  <a:lnTo>
                    <a:pt x="812800" y="238125"/>
                  </a:lnTo>
                  <a:lnTo>
                    <a:pt x="812800" y="574675"/>
                  </a:lnTo>
                  <a:lnTo>
                    <a:pt x="574675" y="812800"/>
                  </a:lnTo>
                  <a:lnTo>
                    <a:pt x="238125" y="812800"/>
                  </a:lnTo>
                  <a:lnTo>
                    <a:pt x="0" y="574675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574675" y="0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40C2189F-9BF3-791F-6AA1-3475C52DFABC}"/>
                </a:ext>
              </a:extLst>
            </p:cNvPr>
            <p:cNvSpPr txBox="1"/>
            <p:nvPr/>
          </p:nvSpPr>
          <p:spPr>
            <a:xfrm>
              <a:off x="63500" y="25400"/>
              <a:ext cx="685800" cy="723900"/>
            </a:xfrm>
            <a:prstGeom prst="rect">
              <a:avLst/>
            </a:prstGeom>
          </p:spPr>
          <p:txBody>
            <a:bodyPr lIns="29445" tIns="29445" rIns="29445" bIns="29445" rtlCol="0" anchor="ctr"/>
            <a:lstStyle/>
            <a:p>
              <a:pPr algn="ctr">
                <a:lnSpc>
                  <a:spcPts val="1330"/>
                </a:lnSpc>
                <a:spcBef>
                  <a:spcPct val="0"/>
                </a:spcBef>
              </a:pPr>
              <a:endParaRPr sz="700"/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79637531-A44E-C462-F403-761C10B95F61}"/>
              </a:ext>
            </a:extLst>
          </p:cNvPr>
          <p:cNvSpPr/>
          <p:nvPr/>
        </p:nvSpPr>
        <p:spPr>
          <a:xfrm>
            <a:off x="4814816" y="492813"/>
            <a:ext cx="857064" cy="159628"/>
          </a:xfrm>
          <a:custGeom>
            <a:avLst/>
            <a:gdLst/>
            <a:ahLst/>
            <a:cxnLst/>
            <a:rect l="l" t="t" r="r" b="b"/>
            <a:pathLst>
              <a:path w="1714127" h="319256">
                <a:moveTo>
                  <a:pt x="0" y="0"/>
                </a:moveTo>
                <a:lnTo>
                  <a:pt x="1714127" y="0"/>
                </a:lnTo>
                <a:lnTo>
                  <a:pt x="1714127" y="319257"/>
                </a:lnTo>
                <a:lnTo>
                  <a:pt x="0" y="31925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sz="700"/>
          </a:p>
        </p:txBody>
      </p:sp>
      <p:sp>
        <p:nvSpPr>
          <p:cNvPr id="35" name="Freeform 35">
            <a:extLst>
              <a:ext uri="{FF2B5EF4-FFF2-40B4-BE49-F238E27FC236}">
                <a16:creationId xmlns:a16="http://schemas.microsoft.com/office/drawing/2014/main" id="{DCD7CC8C-164D-C41A-6252-42C99A05871B}"/>
              </a:ext>
            </a:extLst>
          </p:cNvPr>
          <p:cNvSpPr/>
          <p:nvPr/>
        </p:nvSpPr>
        <p:spPr>
          <a:xfrm>
            <a:off x="8435937" y="4382878"/>
            <a:ext cx="857064" cy="159628"/>
          </a:xfrm>
          <a:custGeom>
            <a:avLst/>
            <a:gdLst/>
            <a:ahLst/>
            <a:cxnLst/>
            <a:rect l="l" t="t" r="r" b="b"/>
            <a:pathLst>
              <a:path w="1714127" h="319256">
                <a:moveTo>
                  <a:pt x="0" y="0"/>
                </a:moveTo>
                <a:lnTo>
                  <a:pt x="1714127" y="0"/>
                </a:lnTo>
                <a:lnTo>
                  <a:pt x="1714127" y="319256"/>
                </a:lnTo>
                <a:lnTo>
                  <a:pt x="0" y="3192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sz="700"/>
          </a:p>
        </p:txBody>
      </p:sp>
      <p:sp>
        <p:nvSpPr>
          <p:cNvPr id="36" name="Freeform 36">
            <a:extLst>
              <a:ext uri="{FF2B5EF4-FFF2-40B4-BE49-F238E27FC236}">
                <a16:creationId xmlns:a16="http://schemas.microsoft.com/office/drawing/2014/main" id="{8672D197-9BF9-8CFA-6DF7-2937B68FFD86}"/>
              </a:ext>
            </a:extLst>
          </p:cNvPr>
          <p:cNvSpPr/>
          <p:nvPr/>
        </p:nvSpPr>
        <p:spPr>
          <a:xfrm>
            <a:off x="8726258" y="4572000"/>
            <a:ext cx="857064" cy="159628"/>
          </a:xfrm>
          <a:custGeom>
            <a:avLst/>
            <a:gdLst/>
            <a:ahLst/>
            <a:cxnLst/>
            <a:rect l="l" t="t" r="r" b="b"/>
            <a:pathLst>
              <a:path w="1714127" h="319256">
                <a:moveTo>
                  <a:pt x="0" y="0"/>
                </a:moveTo>
                <a:lnTo>
                  <a:pt x="1714128" y="0"/>
                </a:lnTo>
                <a:lnTo>
                  <a:pt x="1714128" y="319256"/>
                </a:lnTo>
                <a:lnTo>
                  <a:pt x="0" y="3192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sz="700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1E9CDC51-FF0E-F171-6762-BB19A05B4D8E}"/>
              </a:ext>
            </a:extLst>
          </p:cNvPr>
          <p:cNvGrpSpPr/>
          <p:nvPr/>
        </p:nvGrpSpPr>
        <p:grpSpPr>
          <a:xfrm>
            <a:off x="-19007" y="2928677"/>
            <a:ext cx="4276134" cy="431080"/>
            <a:chOff x="0" y="2985846"/>
            <a:chExt cx="4276134" cy="431080"/>
          </a:xfrm>
        </p:grpSpPr>
        <p:grpSp>
          <p:nvGrpSpPr>
            <p:cNvPr id="28" name="Group 28">
              <a:extLst>
                <a:ext uri="{FF2B5EF4-FFF2-40B4-BE49-F238E27FC236}">
                  <a16:creationId xmlns:a16="http://schemas.microsoft.com/office/drawing/2014/main" id="{20253B4E-5254-3A4A-D2B3-FDC541381304}"/>
                </a:ext>
              </a:extLst>
            </p:cNvPr>
            <p:cNvGrpSpPr/>
            <p:nvPr/>
          </p:nvGrpSpPr>
          <p:grpSpPr>
            <a:xfrm>
              <a:off x="0" y="2985846"/>
              <a:ext cx="4224335" cy="431080"/>
              <a:chOff x="0" y="-38100"/>
              <a:chExt cx="4355842" cy="444500"/>
            </a:xfrm>
          </p:grpSpPr>
          <p:sp>
            <p:nvSpPr>
              <p:cNvPr id="29" name="Freeform 29">
                <a:extLst>
                  <a:ext uri="{FF2B5EF4-FFF2-40B4-BE49-F238E27FC236}">
                    <a16:creationId xmlns:a16="http://schemas.microsoft.com/office/drawing/2014/main" id="{98AC3028-4A73-A10C-B23F-D62CE7C18AED}"/>
                  </a:ext>
                </a:extLst>
              </p:cNvPr>
              <p:cNvSpPr/>
              <p:nvPr/>
            </p:nvSpPr>
            <p:spPr>
              <a:xfrm>
                <a:off x="0" y="0"/>
                <a:ext cx="4355842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4355842" h="406400">
                    <a:moveTo>
                      <a:pt x="4152642" y="0"/>
                    </a:moveTo>
                    <a:lnTo>
                      <a:pt x="0" y="0"/>
                    </a:lnTo>
                    <a:lnTo>
                      <a:pt x="0" y="406400"/>
                    </a:lnTo>
                    <a:lnTo>
                      <a:pt x="4152642" y="406400"/>
                    </a:lnTo>
                    <a:lnTo>
                      <a:pt x="4355842" y="203200"/>
                    </a:lnTo>
                    <a:lnTo>
                      <a:pt x="415264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42882">
                      <a:alpha val="100000"/>
                    </a:srgbClr>
                  </a:gs>
                  <a:gs pos="100000">
                    <a:srgbClr val="2A83D0">
                      <a:alpha val="100000"/>
                    </a:srgbClr>
                  </a:gs>
                </a:gsLst>
                <a:lin ang="0"/>
              </a:gradFill>
            </p:spPr>
            <p:txBody>
              <a:bodyPr/>
              <a:lstStyle/>
              <a:p>
                <a:endParaRPr lang="en-IN" sz="700"/>
              </a:p>
            </p:txBody>
          </p:sp>
          <p:sp>
            <p:nvSpPr>
              <p:cNvPr id="30" name="TextBox 30">
                <a:extLst>
                  <a:ext uri="{FF2B5EF4-FFF2-40B4-BE49-F238E27FC236}">
                    <a16:creationId xmlns:a16="http://schemas.microsoft.com/office/drawing/2014/main" id="{199C1F1F-4C5C-E8C0-1593-D5C9F6952716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4241542" cy="444500"/>
              </a:xfrm>
              <a:prstGeom prst="rect">
                <a:avLst/>
              </a:prstGeom>
            </p:spPr>
            <p:txBody>
              <a:bodyPr lIns="25400" tIns="25400" rIns="25400" bIns="25400" rtlCol="0" anchor="ctr"/>
              <a:lstStyle/>
              <a:p>
                <a:pPr algn="ctr">
                  <a:lnSpc>
                    <a:spcPts val="1330"/>
                  </a:lnSpc>
                </a:pPr>
                <a:endParaRPr sz="700"/>
              </a:p>
            </p:txBody>
          </p:sp>
        </p:grpSp>
        <p:sp>
          <p:nvSpPr>
            <p:cNvPr id="44" name="TextBox 44">
              <a:extLst>
                <a:ext uri="{FF2B5EF4-FFF2-40B4-BE49-F238E27FC236}">
                  <a16:creationId xmlns:a16="http://schemas.microsoft.com/office/drawing/2014/main" id="{3578161E-D839-4793-89CB-83A287A2849E}"/>
                </a:ext>
              </a:extLst>
            </p:cNvPr>
            <p:cNvSpPr txBox="1"/>
            <p:nvPr/>
          </p:nvSpPr>
          <p:spPr>
            <a:xfrm>
              <a:off x="466725" y="3100839"/>
              <a:ext cx="3809409" cy="22358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943"/>
                </a:lnSpc>
              </a:pPr>
              <a:r>
                <a:rPr lang="en-US" sz="1400" b="1" spc="583" dirty="0">
                  <a:solidFill>
                    <a:srgbClr val="FFFFFF"/>
                  </a:solidFill>
                  <a:latin typeface="Arial" panose="020B0604020202020204" pitchFamily="34" charset="0"/>
                  <a:ea typeface="Aileron Bold"/>
                  <a:cs typeface="Arial" panose="020B0604020202020204" pitchFamily="34" charset="0"/>
                  <a:sym typeface="Aileron Bold"/>
                </a:rPr>
                <a:t>PRESENTATION 2026</a:t>
              </a:r>
            </a:p>
          </p:txBody>
        </p:sp>
      </p:grpSp>
      <p:sp>
        <p:nvSpPr>
          <p:cNvPr id="40" name="TextBox 40">
            <a:extLst>
              <a:ext uri="{FF2B5EF4-FFF2-40B4-BE49-F238E27FC236}">
                <a16:creationId xmlns:a16="http://schemas.microsoft.com/office/drawing/2014/main" id="{EEE29F0A-1253-B8CE-E742-41B8B6EB922D}"/>
              </a:ext>
            </a:extLst>
          </p:cNvPr>
          <p:cNvSpPr txBox="1"/>
          <p:nvPr/>
        </p:nvSpPr>
        <p:spPr>
          <a:xfrm>
            <a:off x="4620614" y="4209923"/>
            <a:ext cx="1633432" cy="154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296"/>
              </a:lnSpc>
            </a:pPr>
            <a:r>
              <a:rPr lang="en-US" sz="1000" dirty="0">
                <a:latin typeface="Arial" panose="020B0604020202020204" pitchFamily="34" charset="0"/>
                <a:ea typeface="Aileron"/>
                <a:cs typeface="Arial" panose="020B0604020202020204" pitchFamily="34" charset="0"/>
                <a:sym typeface="Aileron"/>
              </a:rPr>
              <a:t>Faculty Name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2E9FAC26-1E84-D690-0FD4-B1A364AF40DE}"/>
              </a:ext>
            </a:extLst>
          </p:cNvPr>
          <p:cNvSpPr txBox="1"/>
          <p:nvPr/>
        </p:nvSpPr>
        <p:spPr>
          <a:xfrm>
            <a:off x="4627540" y="4343799"/>
            <a:ext cx="1633432" cy="227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38"/>
              </a:lnSpc>
            </a:pPr>
            <a:r>
              <a:rPr lang="en-US" sz="1200" b="1" dirty="0">
                <a:solidFill>
                  <a:srgbClr val="0D358D"/>
                </a:solidFill>
                <a:latin typeface="Arial"/>
                <a:ea typeface="Aileron Bold"/>
                <a:cs typeface="Arial"/>
                <a:sym typeface="Aileron Bold"/>
              </a:rPr>
              <a:t>Dr. Kritika </a:t>
            </a:r>
            <a:r>
              <a:rPr lang="en-US" sz="1200" b="1">
                <a:solidFill>
                  <a:srgbClr val="0D358D"/>
                </a:solidFill>
                <a:latin typeface="Arial"/>
                <a:ea typeface="Aileron Bold"/>
                <a:cs typeface="Arial"/>
                <a:sym typeface="Aileron Bold"/>
              </a:rPr>
              <a:t>Malhotra</a:t>
            </a:r>
            <a:endParaRPr lang="en-US" sz="1200" b="1">
              <a:solidFill>
                <a:srgbClr val="0D358D"/>
              </a:solidFill>
              <a:latin typeface="Arial" panose="020B0604020202020204" pitchFamily="34" charset="0"/>
              <a:ea typeface="Aileron Bold"/>
              <a:cs typeface="Arial" panose="020B0604020202020204" pitchFamily="34" charset="0"/>
            </a:endParaRPr>
          </a:p>
        </p:txBody>
      </p:sp>
      <p:pic>
        <p:nvPicPr>
          <p:cNvPr id="50" name="Picture 49" descr="A blue circle with a person and a envelope in it&#10;&#10;AI-generated content may be incorrect.">
            <a:extLst>
              <a:ext uri="{FF2B5EF4-FFF2-40B4-BE49-F238E27FC236}">
                <a16:creationId xmlns:a16="http://schemas.microsoft.com/office/drawing/2014/main" id="{C926F708-70B7-B0DB-A148-0FA2830D925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6757" t="2453" r="27842" b="53701"/>
          <a:stretch>
            <a:fillRect/>
          </a:stretch>
        </p:blipFill>
        <p:spPr>
          <a:xfrm>
            <a:off x="4226491" y="4205583"/>
            <a:ext cx="395331" cy="381795"/>
          </a:xfrm>
          <a:prstGeom prst="rect">
            <a:avLst/>
          </a:prstGeom>
        </p:spPr>
      </p:pic>
      <p:sp>
        <p:nvSpPr>
          <p:cNvPr id="41" name="TextBox 41">
            <a:extLst>
              <a:ext uri="{FF2B5EF4-FFF2-40B4-BE49-F238E27FC236}">
                <a16:creationId xmlns:a16="http://schemas.microsoft.com/office/drawing/2014/main" id="{3403BDBE-05E2-50C5-0F55-4F0483352E2C}"/>
              </a:ext>
            </a:extLst>
          </p:cNvPr>
          <p:cNvSpPr txBox="1"/>
          <p:nvPr/>
        </p:nvSpPr>
        <p:spPr>
          <a:xfrm>
            <a:off x="2628833" y="4341881"/>
            <a:ext cx="1809978" cy="154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296"/>
              </a:lnSpc>
            </a:pPr>
            <a:r>
              <a:rPr lang="en-US" sz="1000" dirty="0">
                <a:latin typeface="Arial" panose="020B0604020202020204" pitchFamily="34" charset="0"/>
                <a:ea typeface="Aileron"/>
                <a:cs typeface="Arial" panose="020B0604020202020204" pitchFamily="34" charset="0"/>
                <a:sym typeface="Aileron"/>
              </a:rPr>
              <a:t>Faculty Email</a:t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B84F91E2-C42E-10B3-A03A-88AA58AF1258}"/>
              </a:ext>
            </a:extLst>
          </p:cNvPr>
          <p:cNvSpPr txBox="1"/>
          <p:nvPr/>
        </p:nvSpPr>
        <p:spPr>
          <a:xfrm>
            <a:off x="2566486" y="4494253"/>
            <a:ext cx="1464144" cy="369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1200" b="1">
                <a:solidFill>
                  <a:srgbClr val="0D358D"/>
                </a:solidFill>
                <a:latin typeface="Arial"/>
                <a:ea typeface="Aileron Bold"/>
                <a:cs typeface="Arial"/>
              </a:rPr>
              <a:t>Drkritika.nationalpgcolllege@npgc.in</a:t>
            </a:r>
            <a:endParaRPr lang="en-US" sz="1200" b="1" dirty="0" err="1">
              <a:solidFill>
                <a:srgbClr val="0D358D"/>
              </a:solidFill>
              <a:latin typeface="Arial" panose="020B0604020202020204" pitchFamily="34" charset="0"/>
              <a:ea typeface="Aileron Bold"/>
              <a:cs typeface="Arial" panose="020B0604020202020204" pitchFamily="34" charset="0"/>
            </a:endParaRPr>
          </a:p>
        </p:txBody>
      </p:sp>
      <p:pic>
        <p:nvPicPr>
          <p:cNvPr id="51" name="Picture 50" descr="A blue circle with a person and a envelope in it&#10;&#10;AI-generated content may be incorrect.">
            <a:extLst>
              <a:ext uri="{FF2B5EF4-FFF2-40B4-BE49-F238E27FC236}">
                <a16:creationId xmlns:a16="http://schemas.microsoft.com/office/drawing/2014/main" id="{EC8FEF14-C75E-1155-0600-B4343B3F57F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6859" t="52379" r="26874" b="2349"/>
          <a:stretch>
            <a:fillRect/>
          </a:stretch>
        </p:blipFill>
        <p:spPr>
          <a:xfrm>
            <a:off x="2141340" y="4235613"/>
            <a:ext cx="398279" cy="389719"/>
          </a:xfrm>
          <a:prstGeom prst="rect">
            <a:avLst/>
          </a:prstGeom>
        </p:spPr>
      </p:pic>
      <p:sp>
        <p:nvSpPr>
          <p:cNvPr id="67" name="TextBox 41">
            <a:extLst>
              <a:ext uri="{FF2B5EF4-FFF2-40B4-BE49-F238E27FC236}">
                <a16:creationId xmlns:a16="http://schemas.microsoft.com/office/drawing/2014/main" id="{5FE6F280-D970-382B-5260-25E219F86722}"/>
              </a:ext>
            </a:extLst>
          </p:cNvPr>
          <p:cNvSpPr txBox="1"/>
          <p:nvPr/>
        </p:nvSpPr>
        <p:spPr>
          <a:xfrm>
            <a:off x="860459" y="4337076"/>
            <a:ext cx="1809978" cy="158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296"/>
              </a:lnSpc>
            </a:pPr>
            <a:r>
              <a:rPr lang="en-US" sz="1000" dirty="0">
                <a:latin typeface="Arial" panose="020B0604020202020204" pitchFamily="34" charset="0"/>
                <a:ea typeface="Aileron"/>
                <a:cs typeface="Arial" panose="020B0604020202020204" pitchFamily="34" charset="0"/>
                <a:sym typeface="Aileron"/>
              </a:rPr>
              <a:t>Mentor Name</a:t>
            </a:r>
          </a:p>
        </p:txBody>
      </p:sp>
      <p:pic>
        <p:nvPicPr>
          <p:cNvPr id="71" name="Picture 70">
            <a:extLst>
              <a:ext uri="{FF2B5EF4-FFF2-40B4-BE49-F238E27FC236}">
                <a16:creationId xmlns:a16="http://schemas.microsoft.com/office/drawing/2014/main" id="{4094A52A-31D4-B030-C8BD-9B0ACB0083E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8109" t="6546" r="28551" b="49509"/>
          <a:stretch>
            <a:fillRect/>
          </a:stretch>
        </p:blipFill>
        <p:spPr>
          <a:xfrm>
            <a:off x="447718" y="4346948"/>
            <a:ext cx="375815" cy="381063"/>
          </a:xfrm>
          <a:prstGeom prst="rect">
            <a:avLst/>
          </a:prstGeom>
        </p:spPr>
      </p:pic>
      <p:grpSp>
        <p:nvGrpSpPr>
          <p:cNvPr id="49" name="Group 48">
            <a:extLst>
              <a:ext uri="{FF2B5EF4-FFF2-40B4-BE49-F238E27FC236}">
                <a16:creationId xmlns:a16="http://schemas.microsoft.com/office/drawing/2014/main" id="{18150B14-0B49-9E22-C961-786A40F27A84}"/>
              </a:ext>
            </a:extLst>
          </p:cNvPr>
          <p:cNvGrpSpPr/>
          <p:nvPr/>
        </p:nvGrpSpPr>
        <p:grpSpPr>
          <a:xfrm>
            <a:off x="640733" y="769747"/>
            <a:ext cx="3051630" cy="258616"/>
            <a:chOff x="1068621" y="826472"/>
            <a:chExt cx="2166264" cy="183584"/>
          </a:xfrm>
        </p:grpSpPr>
        <p:pic>
          <p:nvPicPr>
            <p:cNvPr id="55" name="Picture 54" descr="A blue and black logo&#10;&#10;AI-generated content may be incorrect.">
              <a:extLst>
                <a:ext uri="{FF2B5EF4-FFF2-40B4-BE49-F238E27FC236}">
                  <a16:creationId xmlns:a16="http://schemas.microsoft.com/office/drawing/2014/main" id="{9016EA03-A173-06E1-C2CA-FF7DC65A363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068621" y="826472"/>
              <a:ext cx="632879" cy="158848"/>
            </a:xfrm>
            <a:prstGeom prst="rect">
              <a:avLst/>
            </a:prstGeom>
          </p:spPr>
        </p:pic>
        <p:pic>
          <p:nvPicPr>
            <p:cNvPr id="57" name="Picture 56" descr="A close up of a logo&#10;&#10;AI-generated content may be incorrect.">
              <a:extLst>
                <a:ext uri="{FF2B5EF4-FFF2-40B4-BE49-F238E27FC236}">
                  <a16:creationId xmlns:a16="http://schemas.microsoft.com/office/drawing/2014/main" id="{B084208C-F6C2-47AC-3616-A62F69B5317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670437" y="826472"/>
              <a:ext cx="564448" cy="183584"/>
            </a:xfrm>
            <a:prstGeom prst="rect">
              <a:avLst/>
            </a:prstGeom>
          </p:spPr>
        </p:pic>
      </p:grpSp>
      <p:sp>
        <p:nvSpPr>
          <p:cNvPr id="31" name="Shape 7">
            <a:extLst>
              <a:ext uri="{FF2B5EF4-FFF2-40B4-BE49-F238E27FC236}">
                <a16:creationId xmlns:a16="http://schemas.microsoft.com/office/drawing/2014/main" id="{4DEADC42-07CF-F7CC-6F54-42498EAA37B3}"/>
              </a:ext>
            </a:extLst>
          </p:cNvPr>
          <p:cNvSpPr/>
          <p:nvPr/>
        </p:nvSpPr>
        <p:spPr>
          <a:xfrm rot="18195971">
            <a:off x="5802826" y="2309413"/>
            <a:ext cx="2834640" cy="109728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Shape 8">
            <a:extLst>
              <a:ext uri="{FF2B5EF4-FFF2-40B4-BE49-F238E27FC236}">
                <a16:creationId xmlns:a16="http://schemas.microsoft.com/office/drawing/2014/main" id="{51B3A474-02DA-6A59-3FFF-434FDDC06A2B}"/>
              </a:ext>
            </a:extLst>
          </p:cNvPr>
          <p:cNvSpPr/>
          <p:nvPr/>
        </p:nvSpPr>
        <p:spPr>
          <a:xfrm rot="18195971">
            <a:off x="6146363" y="2413708"/>
            <a:ext cx="2468880" cy="109728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Shape 9">
            <a:extLst>
              <a:ext uri="{FF2B5EF4-FFF2-40B4-BE49-F238E27FC236}">
                <a16:creationId xmlns:a16="http://schemas.microsoft.com/office/drawing/2014/main" id="{075C146A-525E-EAB1-2438-92AF6E344C2C}"/>
              </a:ext>
            </a:extLst>
          </p:cNvPr>
          <p:cNvSpPr/>
          <p:nvPr/>
        </p:nvSpPr>
        <p:spPr>
          <a:xfrm rot="18195971">
            <a:off x="6482126" y="2528680"/>
            <a:ext cx="2103120" cy="109728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Shape 9">
            <a:extLst>
              <a:ext uri="{FF2B5EF4-FFF2-40B4-BE49-F238E27FC236}">
                <a16:creationId xmlns:a16="http://schemas.microsoft.com/office/drawing/2014/main" id="{ED47441A-C600-ACAC-5391-EF118874C98C}"/>
              </a:ext>
            </a:extLst>
          </p:cNvPr>
          <p:cNvSpPr/>
          <p:nvPr/>
        </p:nvSpPr>
        <p:spPr>
          <a:xfrm rot="18195971">
            <a:off x="6735713" y="2647223"/>
            <a:ext cx="1872046" cy="116269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21A2EF52-784B-5BFA-EB88-FB9E7588BFF8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b="19729"/>
          <a:stretch>
            <a:fillRect/>
          </a:stretch>
        </p:blipFill>
        <p:spPr>
          <a:xfrm>
            <a:off x="173754" y="1046557"/>
            <a:ext cx="3854253" cy="1849530"/>
          </a:xfrm>
          <a:prstGeom prst="rect">
            <a:avLst/>
          </a:prstGeom>
        </p:spPr>
      </p:pic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C81DED0E-8121-4A62-5E99-A69B8B50AA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6679023"/>
              </p:ext>
            </p:extLst>
          </p:nvPr>
        </p:nvGraphicFramePr>
        <p:xfrm>
          <a:off x="4663" y="3463064"/>
          <a:ext cx="4936267" cy="51816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4936267">
                  <a:extLst>
                    <a:ext uri="{9D8B030D-6E8A-4147-A177-3AD203B41FA5}">
                      <a16:colId xmlns:a16="http://schemas.microsoft.com/office/drawing/2014/main" val="343880216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 sz="1400" b="1" i="0" u="none" strike="noStrike" kern="1200" baseline="0" noProof="0" dirty="0">
                          <a:solidFill>
                            <a:srgbClr val="0D358D"/>
                          </a:solidFill>
                          <a:latin typeface="Arial"/>
                          <a:cs typeface="Arial"/>
                        </a:rPr>
                        <a:t>Assessing Occupational Burnout Among </a:t>
                      </a:r>
                      <a:r>
                        <a:rPr lang="en-IN" sz="1400" b="1" i="0" u="none" strike="noStrike" kern="1200" baseline="0" noProof="0">
                          <a:solidFill>
                            <a:srgbClr val="0D358D"/>
                          </a:solidFill>
                          <a:latin typeface="Arial"/>
                          <a:cs typeface="Arial"/>
                        </a:rPr>
                        <a:t>Teachers in</a:t>
                      </a:r>
                      <a:r>
                        <a:rPr lang="en-IN" sz="1400" b="1" i="0" u="none" strike="noStrike" kern="1200" baseline="0" noProof="0" dirty="0">
                          <a:solidFill>
                            <a:srgbClr val="0D358D"/>
                          </a:solidFill>
                          <a:latin typeface="Arial"/>
                          <a:cs typeface="Arial"/>
                        </a:rPr>
                        <a:t> Lucknow City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1395308"/>
                  </a:ext>
                </a:extLst>
              </a:tr>
            </a:tbl>
          </a:graphicData>
        </a:graphic>
      </p:graphicFrame>
      <p:sp>
        <p:nvSpPr>
          <p:cNvPr id="27" name="TextBox 26">
            <a:extLst>
              <a:ext uri="{FF2B5EF4-FFF2-40B4-BE49-F238E27FC236}">
                <a16:creationId xmlns:a16="http://schemas.microsoft.com/office/drawing/2014/main" id="{6C670A56-5638-9E71-B47A-AB3A938CEE29}"/>
              </a:ext>
            </a:extLst>
          </p:cNvPr>
          <p:cNvSpPr txBox="1"/>
          <p:nvPr/>
        </p:nvSpPr>
        <p:spPr>
          <a:xfrm>
            <a:off x="819509" y="4491127"/>
            <a:ext cx="1455708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b="1">
                <a:solidFill>
                  <a:srgbClr val="0D358D"/>
                </a:solidFill>
                <a:latin typeface="Arial"/>
                <a:cs typeface="Arial"/>
              </a:rPr>
              <a:t>Umamaheshwari R</a:t>
            </a:r>
            <a:endParaRPr lang="en-US" sz="1200" b="1" dirty="0">
              <a:solidFill>
                <a:srgbClr val="0D358D"/>
              </a:solidFill>
              <a:latin typeface="Arial"/>
              <a:cs typeface="Arial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12236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8A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0" y="4572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edunet</a:t>
            </a:r>
            <a:endParaRPr lang="en-US" sz="800"/>
          </a:p>
          <a:p>
            <a:pPr marL="0" indent="0" algn="r">
              <a:buNone/>
            </a:pPr>
            <a:r>
              <a:rPr lang="en-US" sz="800" b="1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800"/>
          </a:p>
        </p:txBody>
      </p:sp>
      <p:sp>
        <p:nvSpPr>
          <p:cNvPr id="4" name="Text 2"/>
          <p:cNvSpPr/>
          <p:nvPr/>
        </p:nvSpPr>
        <p:spPr>
          <a:xfrm>
            <a:off x="320040" y="62179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OUTLINE</a:t>
            </a:r>
            <a:endParaRPr lang="en-US" sz="220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B3A8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34440"/>
            <a:ext cx="4389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3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of the Project</a:t>
            </a:r>
            <a:endParaRPr lang="en-US" sz="1300"/>
          </a:p>
        </p:txBody>
      </p:sp>
      <p:sp>
        <p:nvSpPr>
          <p:cNvPr id="7" name="Text 5"/>
          <p:cNvSpPr/>
          <p:nvPr/>
        </p:nvSpPr>
        <p:spPr>
          <a:xfrm>
            <a:off x="457200" y="1664208"/>
            <a:ext cx="4389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3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300"/>
          </a:p>
        </p:txBody>
      </p:sp>
      <p:sp>
        <p:nvSpPr>
          <p:cNvPr id="8" name="Text 6"/>
          <p:cNvSpPr/>
          <p:nvPr/>
        </p:nvSpPr>
        <p:spPr>
          <a:xfrm>
            <a:off x="457200" y="2093976"/>
            <a:ext cx="4389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3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1300"/>
          </a:p>
        </p:txBody>
      </p:sp>
      <p:sp>
        <p:nvSpPr>
          <p:cNvPr id="9" name="Text 7"/>
          <p:cNvSpPr/>
          <p:nvPr/>
        </p:nvSpPr>
        <p:spPr>
          <a:xfrm>
            <a:off x="457200" y="2523744"/>
            <a:ext cx="4389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3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300"/>
          </a:p>
        </p:txBody>
      </p:sp>
      <p:sp>
        <p:nvSpPr>
          <p:cNvPr id="10" name="Text 8"/>
          <p:cNvSpPr/>
          <p:nvPr/>
        </p:nvSpPr>
        <p:spPr>
          <a:xfrm>
            <a:off x="457200" y="2953512"/>
            <a:ext cx="4389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3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of the Project</a:t>
            </a:r>
            <a:endParaRPr lang="en-US" sz="1300"/>
          </a:p>
        </p:txBody>
      </p:sp>
      <p:sp>
        <p:nvSpPr>
          <p:cNvPr id="11" name="Text 9"/>
          <p:cNvSpPr/>
          <p:nvPr/>
        </p:nvSpPr>
        <p:spPr>
          <a:xfrm>
            <a:off x="457200" y="3383280"/>
            <a:ext cx="4389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3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Video of Project</a:t>
            </a:r>
            <a:endParaRPr lang="en-US" sz="1300"/>
          </a:p>
        </p:txBody>
      </p:sp>
      <p:sp>
        <p:nvSpPr>
          <p:cNvPr id="12" name="Text 10"/>
          <p:cNvSpPr/>
          <p:nvPr/>
        </p:nvSpPr>
        <p:spPr>
          <a:xfrm>
            <a:off x="457200" y="3813048"/>
            <a:ext cx="4389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3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/>
          </a:p>
        </p:txBody>
      </p:sp>
      <p:sp>
        <p:nvSpPr>
          <p:cNvPr id="13" name="Text 11"/>
          <p:cNvSpPr/>
          <p:nvPr/>
        </p:nvSpPr>
        <p:spPr>
          <a:xfrm>
            <a:off x="457200" y="4242816"/>
            <a:ext cx="4389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3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3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8A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0" y="4572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edunet</a:t>
            </a:r>
            <a:endParaRPr lang="en-US" sz="800"/>
          </a:p>
          <a:p>
            <a:pPr marL="0" indent="0" algn="r">
              <a:buNone/>
            </a:pPr>
            <a:r>
              <a:rPr lang="en-US" sz="800" b="1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800"/>
          </a:p>
        </p:txBody>
      </p:sp>
      <p:sp>
        <p:nvSpPr>
          <p:cNvPr id="4" name="Text 2"/>
          <p:cNvSpPr/>
          <p:nvPr/>
        </p:nvSpPr>
        <p:spPr>
          <a:xfrm>
            <a:off x="320040" y="62179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220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B3A8A"/>
          </a:solidFill>
          <a:ln/>
        </p:spPr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589379F-EE5D-C593-AC4C-F758AE30079C}"/>
              </a:ext>
            </a:extLst>
          </p:cNvPr>
          <p:cNvSpPr txBox="1"/>
          <p:nvPr/>
        </p:nvSpPr>
        <p:spPr>
          <a:xfrm>
            <a:off x="161745" y="1051344"/>
            <a:ext cx="6351199" cy="37240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 algn="just">
              <a:buFont typeface=""/>
              <a:buChar char="•"/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quote-cjk-patch"/>
                <a:cs typeface="Times New Roman"/>
              </a:rPr>
              <a:t>This project assesses occupational burnout among 54 teachers in </a:t>
            </a:r>
            <a:r>
              <a:rPr lang="en-US" sz="16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quote-cjk-patch"/>
                <a:cs typeface="Times New Roman"/>
              </a:rPr>
              <a:t>Lucknow</a:t>
            </a: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quote-cjk-patch"/>
                <a:cs typeface="Times New Roman"/>
              </a:rPr>
              <a:t> City using a multidimensional, data-driven approach.</a:t>
            </a:r>
          </a:p>
          <a:p>
            <a:pPr marL="228600" indent="-228600" algn="just">
              <a:buFont typeface=""/>
              <a:buChar char="•"/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quote-cjk-patch"/>
                <a:cs typeface="Times New Roman"/>
              </a:rPr>
              <a:t>The objective is to identify burnout patterns across academic streams and provide evidence-based recommendations for institutional interventions.</a:t>
            </a:r>
          </a:p>
          <a:p>
            <a:pPr marL="228600" indent="-228600" algn="just">
              <a:buFont typeface=""/>
              <a:buChar char="•"/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quote-cjk-patch"/>
                <a:cs typeface="Times New Roman"/>
              </a:rPr>
              <a:t>Tools and technologies used include the Burnout Assessment Tool (BAT), WHO-5 Well-Being Index, Microsoft Excel, IBM SPSS, Power BI, and Microsoft Copilot and MS Copilot Studio.</a:t>
            </a:r>
          </a:p>
          <a:p>
            <a:pPr marL="228600" indent="-228600" algn="just">
              <a:buFont typeface=""/>
              <a:buChar char="•"/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quote-cjk-patch"/>
                <a:cs typeface="Times New Roman"/>
              </a:rPr>
              <a:t>Expected outcomes include identification of high-risk groups, comparative analysis across streams, and a scalable framework for burnout monitoring.</a:t>
            </a:r>
          </a:p>
          <a:p>
            <a:pPr marL="228600" indent="-228600" algn="just">
              <a:buFont typeface=""/>
              <a:buChar char="•"/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quote-cjk-patch"/>
                <a:cs typeface="Times New Roman"/>
              </a:rPr>
              <a:t>Key highlights include significant findings on mental distress, psychosomatic complaints and cognitive impairment, integration of AI for analysis, and a focus on the Indian higher education context.</a:t>
            </a:r>
          </a:p>
          <a:p>
            <a:pPr algn="ctr"/>
            <a:endParaRPr lang="en-US" sz="1200" dirty="0">
              <a:solidFill>
                <a:schemeClr val="tx1">
                  <a:lumMod val="95000"/>
                  <a:lumOff val="5000"/>
                </a:schemeClr>
              </a:solidFill>
              <a:latin typeface="Times New Roman"/>
              <a:ea typeface="Calibri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8A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0" y="4572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edunet</a:t>
            </a:r>
            <a:endParaRPr lang="en-US" sz="800"/>
          </a:p>
          <a:p>
            <a:pPr marL="0" indent="0" algn="r">
              <a:buNone/>
            </a:pPr>
            <a:r>
              <a:rPr lang="en-US" sz="800" b="1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800"/>
          </a:p>
        </p:txBody>
      </p:sp>
      <p:sp>
        <p:nvSpPr>
          <p:cNvPr id="4" name="Text 2"/>
          <p:cNvSpPr/>
          <p:nvPr/>
        </p:nvSpPr>
        <p:spPr>
          <a:xfrm>
            <a:off x="320040" y="62179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20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B3A8A"/>
          </a:solidFill>
          <a:ln/>
        </p:spPr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440500A-934A-94D1-100B-CDE66533946B}"/>
              </a:ext>
            </a:extLst>
          </p:cNvPr>
          <p:cNvSpPr txBox="1"/>
          <p:nvPr/>
        </p:nvSpPr>
        <p:spPr>
          <a:xfrm>
            <a:off x="323491" y="1288571"/>
            <a:ext cx="6955047" cy="25853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 algn="just">
              <a:buFont typeface=""/>
              <a:buChar char="•"/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quote-cjk-patch"/>
                <a:cs typeface="Times New Roman"/>
              </a:rPr>
              <a:t>The core problem is the absence of a structured, standardized mechanism to assess occupational burnout among teachers across multiple academic streams in Indian higher education institutions.</a:t>
            </a:r>
          </a:p>
          <a:p>
            <a:pPr marL="228600" indent="-228600" algn="just">
              <a:buFont typeface=""/>
              <a:buChar char="•"/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quote-cjk-patch"/>
                <a:cs typeface="Times New Roman"/>
              </a:rPr>
              <a:t>This problem is significant because unmeasured burnout leads to undetected faculty distress, declining teaching quality, increased absenteeism, and higher attrition rates, ultimately damaging institutional reputation.</a:t>
            </a:r>
          </a:p>
          <a:p>
            <a:pPr marL="228600" indent="-228600" algn="just">
              <a:buFont typeface=""/>
              <a:buChar char="•"/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quote-cjk-patch"/>
                <a:cs typeface="Times New Roman"/>
              </a:rPr>
              <a:t>Target users affected include faculty members across all streams (Science, Humanities, Commerce), institutional administrators, and policymakers responsible for faculty welfare and retention.</a:t>
            </a:r>
          </a:p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8A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0" y="4572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edunet</a:t>
            </a:r>
            <a:endParaRPr lang="en-US" sz="800"/>
          </a:p>
          <a:p>
            <a:pPr marL="0" indent="0" algn="r">
              <a:buNone/>
            </a:pPr>
            <a:r>
              <a:rPr lang="en-US" sz="800" b="1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800"/>
          </a:p>
        </p:txBody>
      </p:sp>
      <p:sp>
        <p:nvSpPr>
          <p:cNvPr id="4" name="Text 2"/>
          <p:cNvSpPr/>
          <p:nvPr/>
        </p:nvSpPr>
        <p:spPr>
          <a:xfrm>
            <a:off x="320040" y="62179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220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B3A8A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1266789"/>
            <a:ext cx="8082950" cy="344237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285750" indent="-285750" algn="just">
              <a:buFont typeface="Arial"/>
              <a:buChar char="•"/>
            </a:pPr>
            <a:r>
              <a:rPr lang="en-US" sz="1400" dirty="0">
                <a:solidFill>
                  <a:srgbClr val="1A1A2E"/>
                </a:solidFill>
                <a:latin typeface="Times New Roman"/>
                <a:ea typeface="+mn-lt"/>
                <a:cs typeface="Times New Roman"/>
              </a:rPr>
              <a:t>The proposed solution is a structured, data-driven burnout assessment framework using the Burnout Assessment Tool (BAT) to measure both core and secondary dimensions of teacher burnout across academic streams and measuring faculty well-being through WHO Well-Being Index.</a:t>
            </a:r>
          </a:p>
          <a:p>
            <a:pPr algn="just"/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285750" indent="-285750" algn="just">
              <a:buFont typeface="Arial"/>
              <a:buChar char="•"/>
            </a:pPr>
            <a:r>
              <a:rPr lang="en-US" sz="1400" dirty="0">
                <a:solidFill>
                  <a:srgbClr val="1A1A2E"/>
                </a:solidFill>
                <a:latin typeface="Times New Roman"/>
                <a:ea typeface="+mn-lt"/>
                <a:cs typeface="Times New Roman"/>
              </a:rPr>
              <a:t>This approach solves the identified problem by providing standardized measurement, comparative analysis across departments, and objective evidence of burnout for faculty appraisals and institutional support.</a:t>
            </a:r>
          </a:p>
          <a:p>
            <a:pPr algn="just"/>
            <a:endParaRPr lang="en-US" sz="1400" dirty="0">
              <a:solidFill>
                <a:srgbClr val="1A1A2E"/>
              </a:solidFill>
              <a:latin typeface="Times New Roman"/>
              <a:ea typeface="+mn-lt"/>
              <a:cs typeface="Times New Roman"/>
            </a:endParaRPr>
          </a:p>
          <a:p>
            <a:pPr marL="285750" indent="-285750" algn="just">
              <a:buFont typeface="Arial"/>
              <a:buChar char="•"/>
            </a:pPr>
            <a:r>
              <a:rPr lang="en-US" sz="1400" dirty="0">
                <a:solidFill>
                  <a:srgbClr val="1A1A2E"/>
                </a:solidFill>
                <a:latin typeface="Times New Roman"/>
                <a:ea typeface="+mn-lt"/>
                <a:cs typeface="Times New Roman"/>
              </a:rPr>
              <a:t>Methodology includes cross-sectional quantitative design data collection via Google Forms (68 responses, cleaned to 54), reliability testing (Cronbach's Alpha = 0.82), correlation analysis, and ANOVA to compare burnout across streams.</a:t>
            </a:r>
          </a:p>
          <a:p>
            <a:pPr algn="just"/>
            <a:endParaRPr lang="en-US" dirty="0">
              <a:solidFill>
                <a:srgbClr val="000000"/>
              </a:solidFill>
              <a:latin typeface="Calibri" panose="020F0502020204030204"/>
              <a:ea typeface="+mn-lt"/>
              <a:cs typeface="Calibri" panose="020F0502020204030204"/>
            </a:endParaRPr>
          </a:p>
          <a:p>
            <a:pPr marL="285750" indent="-285750" algn="just">
              <a:buFont typeface="Arial"/>
              <a:buChar char="•"/>
            </a:pPr>
            <a:r>
              <a:rPr lang="en-US" sz="1400" dirty="0">
                <a:solidFill>
                  <a:srgbClr val="1A1A2E"/>
                </a:solidFill>
                <a:latin typeface="Times New Roman"/>
                <a:ea typeface="+mn-lt"/>
                <a:cs typeface="Times New Roman"/>
              </a:rPr>
              <a:t>Key benefits include multidimensional burnout measurement (exhaustion, mental distance, emotional impairment, cognitive impairment, psychosomatic symptoms), identification of high-risk streams (Humanities and Commerce), and actionable recommendations for workload rationalization and wellness programs.</a:t>
            </a:r>
          </a:p>
          <a:p>
            <a:pPr marL="285750" indent="-285750">
              <a:buFont typeface="Arial"/>
              <a:buChar char="•"/>
            </a:pPr>
            <a:endParaRPr lang="en-US" dirty="0">
              <a:ea typeface="Calibri" panose="020F0502020204030204"/>
              <a:cs typeface="Calibri" panose="020F0502020204030204"/>
            </a:endParaRPr>
          </a:p>
          <a:p>
            <a:br>
              <a:rPr lang="en-US" dirty="0"/>
            </a:br>
            <a:br>
              <a:rPr lang="en-US" dirty="0"/>
            </a:br>
            <a:endParaRPr lang="en-US" dirty="0">
              <a:ea typeface="Calibri" panose="020F0502020204030204"/>
              <a:cs typeface="Calibri" panose="020F0502020204030204"/>
            </a:endParaRPr>
          </a:p>
          <a:p>
            <a:endParaRPr lang="en-US" sz="1300" dirty="0">
              <a:solidFill>
                <a:srgbClr val="1A1A2E"/>
              </a:solidFill>
              <a:ea typeface="Calibri"/>
              <a:cs typeface="Calibri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846320" y="1280160"/>
            <a:ext cx="39319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8A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0" y="4572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edunet</a:t>
            </a:r>
            <a:endParaRPr lang="en-US" sz="800"/>
          </a:p>
          <a:p>
            <a:pPr marL="0" indent="0" algn="r">
              <a:buNone/>
            </a:pPr>
            <a:r>
              <a:rPr lang="en-US" sz="800" b="1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800"/>
          </a:p>
        </p:txBody>
      </p:sp>
      <p:sp>
        <p:nvSpPr>
          <p:cNvPr id="4" name="Text 2"/>
          <p:cNvSpPr/>
          <p:nvPr/>
        </p:nvSpPr>
        <p:spPr>
          <a:xfrm>
            <a:off x="320040" y="62179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20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B3A8A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097280"/>
            <a:ext cx="4114800" cy="38404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7" name="Shape 5"/>
          <p:cNvSpPr/>
          <p:nvPr/>
        </p:nvSpPr>
        <p:spPr>
          <a:xfrm>
            <a:off x="4206240" y="1097280"/>
            <a:ext cx="320040" cy="384048"/>
          </a:xfrm>
          <a:prstGeom prst="rect">
            <a:avLst/>
          </a:prstGeom>
          <a:solidFill>
            <a:srgbClr val="1B3A8A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133856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Input / Source</a:t>
            </a:r>
            <a:endParaRPr lang="en-US" sz="1200"/>
          </a:p>
        </p:txBody>
      </p:sp>
      <p:sp>
        <p:nvSpPr>
          <p:cNvPr id="9" name="Text 7"/>
          <p:cNvSpPr/>
          <p:nvPr/>
        </p:nvSpPr>
        <p:spPr>
          <a:xfrm>
            <a:off x="365760" y="1554480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/>
            <a:r>
              <a:rPr lang="en-US" sz="1200" dirty="0"/>
              <a:t>Data was collected through a </a:t>
            </a:r>
            <a:r>
              <a:rPr lang="en-US" sz="1200" b="1" dirty="0"/>
              <a:t>Google Forms questionnaire</a:t>
            </a:r>
            <a:r>
              <a:rPr lang="en-US" sz="1200" dirty="0"/>
              <a:t> from teachers. This project uses </a:t>
            </a:r>
            <a:r>
              <a:rPr lang="en-US" sz="1200" b="1" dirty="0"/>
              <a:t>manually collected survey data</a:t>
            </a:r>
            <a:r>
              <a:rPr lang="en-US" sz="1200" dirty="0"/>
              <a:t> without any external APIs or databases.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09160" y="1097280"/>
            <a:ext cx="4114800" cy="38404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1" name="Shape 9"/>
          <p:cNvSpPr/>
          <p:nvPr/>
        </p:nvSpPr>
        <p:spPr>
          <a:xfrm>
            <a:off x="8641080" y="1097280"/>
            <a:ext cx="320040" cy="384048"/>
          </a:xfrm>
          <a:prstGeom prst="rect">
            <a:avLst/>
          </a:prstGeom>
          <a:solidFill>
            <a:srgbClr val="1B3A8A"/>
          </a:solidFill>
          <a:ln/>
        </p:spPr>
      </p:sp>
      <p:sp>
        <p:nvSpPr>
          <p:cNvPr id="12" name="Text 10"/>
          <p:cNvSpPr/>
          <p:nvPr/>
        </p:nvSpPr>
        <p:spPr>
          <a:xfrm>
            <a:off x="4800600" y="1133856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/ Analysis</a:t>
            </a:r>
            <a:endParaRPr lang="en-US" sz="1200"/>
          </a:p>
        </p:txBody>
      </p:sp>
      <p:sp>
        <p:nvSpPr>
          <p:cNvPr id="13" name="Text 11"/>
          <p:cNvSpPr/>
          <p:nvPr/>
        </p:nvSpPr>
        <p:spPr>
          <a:xfrm>
            <a:off x="4709160" y="1554480"/>
            <a:ext cx="42519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/>
            <a:r>
              <a:rPr lang="en-US" sz="1200" dirty="0"/>
              <a:t>Cleaned the data using </a:t>
            </a:r>
            <a:r>
              <a:rPr lang="en-US" sz="1200" b="1" dirty="0"/>
              <a:t>Microsoft Excel</a:t>
            </a:r>
            <a:r>
              <a:rPr lang="en-US" sz="1200" dirty="0"/>
              <a:t>- removed duplicates, handled missing values, and standardized the responses into numerical format. Transformed the data- organized variables and calculated scores for BAT dimensions. Further analysis was performed using </a:t>
            </a:r>
            <a:r>
              <a:rPr lang="en-US" sz="1200" b="1" dirty="0"/>
              <a:t>SPSS</a:t>
            </a:r>
            <a:r>
              <a:rPr lang="en-US" sz="1200" dirty="0"/>
              <a:t> (</a:t>
            </a:r>
            <a:r>
              <a:rPr lang="en-US" sz="1200" dirty="0" err="1"/>
              <a:t>Cronbach’s</a:t>
            </a:r>
            <a:r>
              <a:rPr lang="en-US" sz="1200" dirty="0"/>
              <a:t> Alpha, correlation, ANOVA), along with </a:t>
            </a:r>
            <a:r>
              <a:rPr lang="en-US" sz="1200" b="1" dirty="0"/>
              <a:t>Power BI</a:t>
            </a:r>
            <a:r>
              <a:rPr lang="en-US" sz="1200" dirty="0"/>
              <a:t> for visualization and </a:t>
            </a:r>
            <a:r>
              <a:rPr lang="en-US" sz="1200" b="1" dirty="0"/>
              <a:t>Copilot</a:t>
            </a:r>
            <a:r>
              <a:rPr lang="en-US" sz="1200" dirty="0"/>
              <a:t> for insights and reporting.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74320" y="2926080"/>
            <a:ext cx="4114800" cy="38404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5" name="Shape 13"/>
          <p:cNvSpPr/>
          <p:nvPr/>
        </p:nvSpPr>
        <p:spPr>
          <a:xfrm>
            <a:off x="4206240" y="2926080"/>
            <a:ext cx="320040" cy="384048"/>
          </a:xfrm>
          <a:prstGeom prst="rect">
            <a:avLst/>
          </a:prstGeom>
          <a:solidFill>
            <a:srgbClr val="1B3A8A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2962656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Tool Integration</a:t>
            </a:r>
            <a:endParaRPr lang="en-US" sz="1200"/>
          </a:p>
        </p:txBody>
      </p:sp>
      <p:sp>
        <p:nvSpPr>
          <p:cNvPr id="17" name="Text 15"/>
          <p:cNvSpPr/>
          <p:nvPr/>
        </p:nvSpPr>
        <p:spPr>
          <a:xfrm>
            <a:off x="365760" y="3383280"/>
            <a:ext cx="4023360" cy="13220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/>
            <a:r>
              <a:rPr lang="en-US" sz="1200" b="1" dirty="0"/>
              <a:t>Microsoft Excel </a:t>
            </a:r>
            <a:r>
              <a:rPr lang="en-US" sz="1200" dirty="0"/>
              <a:t>for data cleaning, coding, and initial analysis. </a:t>
            </a:r>
            <a:r>
              <a:rPr lang="en-US" sz="1200" b="1" dirty="0"/>
              <a:t>IBM SPSS </a:t>
            </a:r>
            <a:r>
              <a:rPr lang="en-US" sz="1200" dirty="0"/>
              <a:t>for integrated and advanced statistical analysis such as reliability testing, correlation, and ANOVA. </a:t>
            </a:r>
            <a:r>
              <a:rPr lang="en-US" sz="1200" b="1" dirty="0"/>
              <a:t>Power BI </a:t>
            </a:r>
            <a:r>
              <a:rPr lang="en-US" sz="1200" dirty="0"/>
              <a:t>used to create interactive dashboards and visualizations, while </a:t>
            </a:r>
            <a:r>
              <a:rPr lang="en-US" sz="1200" b="1" dirty="0"/>
              <a:t>Microsoft Copilot </a:t>
            </a:r>
            <a:r>
              <a:rPr lang="en-US" sz="1200" dirty="0"/>
              <a:t>and </a:t>
            </a:r>
            <a:r>
              <a:rPr lang="en-US" sz="1200" b="1" dirty="0"/>
              <a:t>AI </a:t>
            </a:r>
            <a:r>
              <a:rPr lang="en-US" sz="1200" b="1" dirty="0" err="1"/>
              <a:t>chatbots</a:t>
            </a:r>
            <a:r>
              <a:rPr lang="en-US" sz="1200" b="1" dirty="0"/>
              <a:t> </a:t>
            </a:r>
            <a:r>
              <a:rPr lang="en-US" sz="1200" dirty="0"/>
              <a:t>used for generating insights, interpretations, and report content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709160" y="2926080"/>
            <a:ext cx="4114800" cy="38404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9" name="Shape 17"/>
          <p:cNvSpPr/>
          <p:nvPr/>
        </p:nvSpPr>
        <p:spPr>
          <a:xfrm>
            <a:off x="8641080" y="2926080"/>
            <a:ext cx="320040" cy="384048"/>
          </a:xfrm>
          <a:prstGeom prst="rect">
            <a:avLst/>
          </a:prstGeom>
          <a:solidFill>
            <a:srgbClr val="1B3A8A"/>
          </a:solidFill>
          <a:ln/>
        </p:spPr>
      </p:sp>
      <p:sp>
        <p:nvSpPr>
          <p:cNvPr id="20" name="Text 18"/>
          <p:cNvSpPr/>
          <p:nvPr/>
        </p:nvSpPr>
        <p:spPr>
          <a:xfrm>
            <a:off x="4800600" y="2962656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/ Dashboard</a:t>
            </a:r>
            <a:endParaRPr lang="en-US" sz="1200"/>
          </a:p>
        </p:txBody>
      </p:sp>
      <p:sp>
        <p:nvSpPr>
          <p:cNvPr id="21" name="Text 19"/>
          <p:cNvSpPr/>
          <p:nvPr/>
        </p:nvSpPr>
        <p:spPr>
          <a:xfrm>
            <a:off x="4800600" y="3383280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/>
            <a:r>
              <a:rPr lang="en-US" sz="1200" dirty="0"/>
              <a:t>The final output includes a </a:t>
            </a:r>
            <a:r>
              <a:rPr lang="en-US" sz="1200" b="1" dirty="0"/>
              <a:t>detailed analytical report</a:t>
            </a:r>
            <a:r>
              <a:rPr lang="en-US" sz="1200" dirty="0"/>
              <a:t>, along with </a:t>
            </a:r>
            <a:r>
              <a:rPr lang="en-US" sz="1200" b="1" dirty="0"/>
              <a:t>interactive dashboards and charts</a:t>
            </a:r>
            <a:r>
              <a:rPr lang="en-US" sz="1200" dirty="0"/>
              <a:t> created using Power BI. It represents burnout patterns, statistical results, and insights in a clear and visual format for better understanding and quality decision-making. 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8A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0" y="4572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edunet</a:t>
            </a:r>
            <a:endParaRPr lang="en-US" sz="800"/>
          </a:p>
          <a:p>
            <a:pPr marL="0" indent="0" algn="r">
              <a:buNone/>
            </a:pPr>
            <a:r>
              <a:rPr lang="en-US" sz="800" b="1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800"/>
          </a:p>
        </p:txBody>
      </p:sp>
      <p:sp>
        <p:nvSpPr>
          <p:cNvPr id="4" name="Text 2"/>
          <p:cNvSpPr/>
          <p:nvPr/>
        </p:nvSpPr>
        <p:spPr>
          <a:xfrm>
            <a:off x="320040" y="62179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of Project</a:t>
            </a:r>
            <a:endParaRPr lang="en-US" sz="220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B3A8A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11556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Here's the list of some demo screenshots / features of the project:</a:t>
            </a:r>
            <a:endParaRPr lang="en-US" sz="1200"/>
          </a:p>
        </p:txBody>
      </p:sp>
      <p:sp>
        <p:nvSpPr>
          <p:cNvPr id="7" name="Shape 5"/>
          <p:cNvSpPr/>
          <p:nvPr/>
        </p:nvSpPr>
        <p:spPr>
          <a:xfrm>
            <a:off x="978408" y="1463040"/>
            <a:ext cx="1371600" cy="1371600"/>
          </a:xfrm>
          <a:prstGeom prst="ellipse">
            <a:avLst/>
          </a:prstGeom>
          <a:solidFill>
            <a:srgbClr val="ECEFF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46304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>
                <a:solidFill>
                  <a:srgbClr val="000000"/>
                </a:solidFill>
              </a:rPr>
              <a:t>🖼</a:t>
            </a:r>
            <a:endParaRPr lang="en-US" sz="3600"/>
          </a:p>
        </p:txBody>
      </p:sp>
      <p:sp>
        <p:nvSpPr>
          <p:cNvPr id="9" name="Shape 7"/>
          <p:cNvSpPr/>
          <p:nvPr/>
        </p:nvSpPr>
        <p:spPr>
          <a:xfrm>
            <a:off x="274320" y="2011680"/>
            <a:ext cx="2788920" cy="2651760"/>
          </a:xfrm>
          <a:prstGeom prst="rect">
            <a:avLst/>
          </a:prstGeom>
          <a:solidFill>
            <a:srgbClr val="1565C0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0584" y="2166524"/>
            <a:ext cx="2788920" cy="4114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ea typeface="Calibri"/>
                <a:cs typeface="Calibri"/>
              </a:rPr>
              <a:t>Excel </a:t>
            </a:r>
            <a:r>
              <a:rPr lang="en-US" sz="1600" b="1" dirty="0" err="1">
                <a:solidFill>
                  <a:srgbClr val="FFFFFF"/>
                </a:solidFill>
                <a:ea typeface="Calibri"/>
                <a:cs typeface="Calibri"/>
              </a:rPr>
              <a:t>Te</a:t>
            </a:r>
            <a:r>
              <a:rPr lang="en-US" sz="1600" b="1">
                <a:solidFill>
                  <a:srgbClr val="FFFFFF"/>
                </a:solidFill>
                <a:ea typeface="Calibri"/>
                <a:cs typeface="Calibri"/>
              </a:rPr>
              <a:t>chnical Dashboard</a:t>
            </a:r>
            <a:endParaRPr lang="en-US" sz="1600" b="1" dirty="0">
              <a:solidFill>
                <a:srgbClr val="FFFFFF"/>
              </a:solidFill>
              <a:ea typeface="Calibri"/>
              <a:cs typeface="Calibri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11480" y="3127248"/>
            <a:ext cx="2514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[Add description of Demo 1 here — what this demo shows, key features, and results achieved.]</a:t>
            </a:r>
            <a:endParaRPr lang="en-US" sz="1050"/>
          </a:p>
        </p:txBody>
      </p:sp>
      <p:sp>
        <p:nvSpPr>
          <p:cNvPr id="12" name="Shape 10"/>
          <p:cNvSpPr/>
          <p:nvPr/>
        </p:nvSpPr>
        <p:spPr>
          <a:xfrm>
            <a:off x="3922776" y="1463040"/>
            <a:ext cx="1371600" cy="1371600"/>
          </a:xfrm>
          <a:prstGeom prst="ellipse">
            <a:avLst/>
          </a:prstGeom>
          <a:solidFill>
            <a:srgbClr val="ECEFF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22776" y="146304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>
                <a:solidFill>
                  <a:srgbClr val="000000"/>
                </a:solidFill>
              </a:rPr>
              <a:t>🖼</a:t>
            </a:r>
            <a:endParaRPr lang="en-US" sz="3600"/>
          </a:p>
        </p:txBody>
      </p:sp>
      <p:sp>
        <p:nvSpPr>
          <p:cNvPr id="14" name="Shape 12"/>
          <p:cNvSpPr/>
          <p:nvPr/>
        </p:nvSpPr>
        <p:spPr>
          <a:xfrm>
            <a:off x="3218688" y="2011680"/>
            <a:ext cx="2788920" cy="2651760"/>
          </a:xfrm>
          <a:prstGeom prst="rect">
            <a:avLst/>
          </a:prstGeom>
          <a:solidFill>
            <a:srgbClr val="1565C0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218688" y="2166524"/>
            <a:ext cx="2788920" cy="4114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Power BI Dashboard</a:t>
            </a:r>
            <a:endParaRPr lang="en-US" sz="1600"/>
          </a:p>
        </p:txBody>
      </p:sp>
      <p:sp>
        <p:nvSpPr>
          <p:cNvPr id="16" name="Text 14"/>
          <p:cNvSpPr/>
          <p:nvPr/>
        </p:nvSpPr>
        <p:spPr>
          <a:xfrm>
            <a:off x="3355848" y="3127248"/>
            <a:ext cx="2514600" cy="1371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endParaRPr lang="en-US" sz="1050" dirty="0">
              <a:solidFill>
                <a:srgbClr val="FFFFFF"/>
              </a:solidFill>
              <a:ea typeface="Calibri"/>
              <a:cs typeface="Calibri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867144" y="1463040"/>
            <a:ext cx="1371600" cy="1371600"/>
          </a:xfrm>
          <a:prstGeom prst="ellipse">
            <a:avLst/>
          </a:prstGeom>
          <a:solidFill>
            <a:srgbClr val="ECEFF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67144" y="146304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>
                <a:solidFill>
                  <a:srgbClr val="000000"/>
                </a:solidFill>
              </a:rPr>
              <a:t>🖼</a:t>
            </a:r>
            <a:endParaRPr lang="en-US" sz="3600"/>
          </a:p>
        </p:txBody>
      </p:sp>
      <p:sp>
        <p:nvSpPr>
          <p:cNvPr id="19" name="Shape 17"/>
          <p:cNvSpPr/>
          <p:nvPr/>
        </p:nvSpPr>
        <p:spPr>
          <a:xfrm>
            <a:off x="6163056" y="2011680"/>
            <a:ext cx="2788920" cy="2651760"/>
          </a:xfrm>
          <a:prstGeom prst="rect">
            <a:avLst/>
          </a:prstGeom>
          <a:solidFill>
            <a:srgbClr val="1565C0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152273" y="2144958"/>
            <a:ext cx="2788920" cy="4114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ea typeface="Calibri"/>
                <a:cs typeface="Calibri"/>
              </a:rPr>
              <a:t>Copil</a:t>
            </a:r>
            <a:r>
              <a:rPr lang="en-US" sz="1600" b="1">
                <a:solidFill>
                  <a:srgbClr val="FFFFFF"/>
                </a:solidFill>
                <a:ea typeface="Calibri"/>
                <a:cs typeface="Calibri"/>
              </a:rPr>
              <a:t>ot Studio Agent</a:t>
            </a:r>
            <a:endParaRPr lang="en-US" sz="1600" b="1" dirty="0">
              <a:solidFill>
                <a:srgbClr val="FFFFFF"/>
              </a:solidFill>
              <a:ea typeface="Calibri"/>
              <a:cs typeface="Calibri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300216" y="3127248"/>
            <a:ext cx="2514600" cy="1371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endParaRPr lang="en-US" sz="1050" dirty="0">
              <a:solidFill>
                <a:srgbClr val="FFFFFF"/>
              </a:solidFill>
              <a:ea typeface="Calibri"/>
              <a:cs typeface="Calibri"/>
            </a:endParaRPr>
          </a:p>
        </p:txBody>
      </p:sp>
      <p:pic>
        <p:nvPicPr>
          <p:cNvPr id="22" name="Picture 2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3EFA358-4227-CFFF-A4FB-0BFAA7BA82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64" y="2653877"/>
            <a:ext cx="3062378" cy="1679643"/>
          </a:xfrm>
          <a:prstGeom prst="rect">
            <a:avLst/>
          </a:prstGeom>
        </p:spPr>
      </p:pic>
      <p:pic>
        <p:nvPicPr>
          <p:cNvPr id="24" name="Picture 2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CB245B2-4EAF-3A4C-9005-CAD83DDFE4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8182" y="2592058"/>
            <a:ext cx="2801429" cy="1695450"/>
          </a:xfrm>
          <a:prstGeom prst="rect">
            <a:avLst/>
          </a:prstGeom>
        </p:spPr>
      </p:pic>
      <p:pic>
        <p:nvPicPr>
          <p:cNvPr id="1026" name="Picture 2" descr="C:\Users\Kritika\Pictures\Screenshots\Screenshot (52)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8689" y="2653877"/>
            <a:ext cx="2788919" cy="16571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8A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0" y="4572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edunet</a:t>
            </a:r>
            <a:endParaRPr lang="en-US" sz="800"/>
          </a:p>
          <a:p>
            <a:pPr marL="0" indent="0" algn="r">
              <a:buNone/>
            </a:pPr>
            <a:r>
              <a:rPr lang="en-US" sz="800" b="1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800"/>
          </a:p>
        </p:txBody>
      </p:sp>
      <p:sp>
        <p:nvSpPr>
          <p:cNvPr id="4" name="Text 2"/>
          <p:cNvSpPr/>
          <p:nvPr/>
        </p:nvSpPr>
        <p:spPr>
          <a:xfrm>
            <a:off x="320040" y="62179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of Project Demo</a:t>
            </a:r>
            <a:endParaRPr lang="en-US" sz="220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B3A8A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685800"/>
            <a:ext cx="8412480" cy="3977640"/>
          </a:xfrm>
          <a:prstGeom prst="rect">
            <a:avLst/>
          </a:prstGeom>
          <a:solidFill>
            <a:srgbClr val="ECEFF1"/>
          </a:solidFill>
          <a:ln w="25400">
            <a:solidFill>
              <a:srgbClr val="1B3A8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685800"/>
            <a:ext cx="8412480" cy="384048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777240"/>
            <a:ext cx="164592" cy="164592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777240"/>
            <a:ext cx="164592" cy="164592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0" name="Shape 8"/>
          <p:cNvSpPr/>
          <p:nvPr/>
        </p:nvSpPr>
        <p:spPr>
          <a:xfrm>
            <a:off x="960120" y="777240"/>
            <a:ext cx="164592" cy="164592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1" name="Shape 9"/>
          <p:cNvSpPr/>
          <p:nvPr/>
        </p:nvSpPr>
        <p:spPr>
          <a:xfrm>
            <a:off x="1371600" y="777240"/>
            <a:ext cx="502920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89888" y="768096"/>
            <a:ext cx="49926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[https://your-project-demo-link.com]</a:t>
            </a:r>
            <a:endParaRPr lang="en-US" sz="900"/>
          </a:p>
        </p:txBody>
      </p:sp>
      <p:sp>
        <p:nvSpPr>
          <p:cNvPr id="13" name="Shape 11"/>
          <p:cNvSpPr/>
          <p:nvPr/>
        </p:nvSpPr>
        <p:spPr>
          <a:xfrm>
            <a:off x="3749040" y="1828800"/>
            <a:ext cx="1645920" cy="1645920"/>
          </a:xfrm>
          <a:prstGeom prst="ellipse">
            <a:avLst/>
          </a:prstGeom>
          <a:solidFill>
            <a:srgbClr val="1B3A8A">
              <a:alpha val="8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3749040" y="182880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>
                <a:solidFill>
                  <a:srgbClr val="FFFFFF"/>
                </a:solidFill>
              </a:rPr>
              <a:t>▶</a:t>
            </a:r>
            <a:endParaRPr lang="en-US" sz="4800"/>
          </a:p>
        </p:txBody>
      </p:sp>
      <p:sp>
        <p:nvSpPr>
          <p:cNvPr id="15" name="Text 13"/>
          <p:cNvSpPr/>
          <p:nvPr/>
        </p:nvSpPr>
        <p:spPr>
          <a:xfrm>
            <a:off x="914400" y="379476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your project demo video.</a:t>
            </a:r>
            <a:endParaRPr lang="en-US" sz="1100"/>
          </a:p>
          <a:p>
            <a:pPr marL="0" indent="0" algn="ctr">
              <a:buNone/>
            </a:pPr>
            <a:r>
              <a:rPr lang="en-US" sz="1100" i="1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embed a video your live project.]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8A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0" y="4572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edunet</a:t>
            </a:r>
            <a:endParaRPr lang="en-US" sz="800"/>
          </a:p>
          <a:p>
            <a:pPr marL="0" indent="0" algn="r">
              <a:buNone/>
            </a:pPr>
            <a:r>
              <a:rPr lang="en-US" sz="800" b="1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800"/>
          </a:p>
        </p:txBody>
      </p:sp>
      <p:sp>
        <p:nvSpPr>
          <p:cNvPr id="4" name="Text 2"/>
          <p:cNvSpPr/>
          <p:nvPr/>
        </p:nvSpPr>
        <p:spPr>
          <a:xfrm>
            <a:off x="320040" y="62179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20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B3A8A"/>
          </a:solidFill>
          <a:ln/>
        </p:spPr>
      </p:sp>
      <p:sp>
        <p:nvSpPr>
          <p:cNvPr id="6" name="Text 4"/>
          <p:cNvSpPr/>
          <p:nvPr/>
        </p:nvSpPr>
        <p:spPr>
          <a:xfrm>
            <a:off x="4754880" y="1234440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5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of the Project</a:t>
            </a:r>
            <a:endParaRPr lang="en-US" sz="1150"/>
          </a:p>
        </p:txBody>
      </p:sp>
      <p:sp>
        <p:nvSpPr>
          <p:cNvPr id="7" name="Text 5"/>
          <p:cNvSpPr/>
          <p:nvPr/>
        </p:nvSpPr>
        <p:spPr>
          <a:xfrm>
            <a:off x="4754880" y="1636776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5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150"/>
          </a:p>
        </p:txBody>
      </p:sp>
      <p:sp>
        <p:nvSpPr>
          <p:cNvPr id="8" name="Text 6"/>
          <p:cNvSpPr/>
          <p:nvPr/>
        </p:nvSpPr>
        <p:spPr>
          <a:xfrm>
            <a:off x="4754880" y="2039112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5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1150"/>
          </a:p>
        </p:txBody>
      </p:sp>
      <p:sp>
        <p:nvSpPr>
          <p:cNvPr id="9" name="Text 7"/>
          <p:cNvSpPr/>
          <p:nvPr/>
        </p:nvSpPr>
        <p:spPr>
          <a:xfrm>
            <a:off x="4754880" y="2441448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5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150"/>
          </a:p>
        </p:txBody>
      </p:sp>
      <p:sp>
        <p:nvSpPr>
          <p:cNvPr id="10" name="Text 8"/>
          <p:cNvSpPr/>
          <p:nvPr/>
        </p:nvSpPr>
        <p:spPr>
          <a:xfrm>
            <a:off x="4754880" y="2843784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5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of the Project</a:t>
            </a:r>
            <a:endParaRPr lang="en-US" sz="1150"/>
          </a:p>
        </p:txBody>
      </p:sp>
      <p:sp>
        <p:nvSpPr>
          <p:cNvPr id="11" name="Text 9"/>
          <p:cNvSpPr/>
          <p:nvPr/>
        </p:nvSpPr>
        <p:spPr>
          <a:xfrm>
            <a:off x="4754880" y="3246120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5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Video of Project</a:t>
            </a:r>
            <a:endParaRPr lang="en-US" sz="1150"/>
          </a:p>
        </p:txBody>
      </p:sp>
      <p:sp>
        <p:nvSpPr>
          <p:cNvPr id="12" name="Text 10"/>
          <p:cNvSpPr/>
          <p:nvPr/>
        </p:nvSpPr>
        <p:spPr>
          <a:xfrm>
            <a:off x="4754880" y="3648456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Conclusion</a:t>
            </a:r>
            <a:endParaRPr lang="en-US" sz="1150"/>
          </a:p>
        </p:txBody>
      </p:sp>
      <p:sp>
        <p:nvSpPr>
          <p:cNvPr id="13" name="Text 11"/>
          <p:cNvSpPr/>
          <p:nvPr/>
        </p:nvSpPr>
        <p:spPr>
          <a:xfrm>
            <a:off x="4754880" y="4050792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5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150"/>
          </a:p>
        </p:txBody>
      </p:sp>
      <p:sp>
        <p:nvSpPr>
          <p:cNvPr id="14" name="Text 12"/>
          <p:cNvSpPr/>
          <p:nvPr/>
        </p:nvSpPr>
        <p:spPr>
          <a:xfrm>
            <a:off x="284672" y="889383"/>
            <a:ext cx="3996187" cy="3701163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endParaRPr lang="en-US" sz="1200" dirty="0">
              <a:solidFill>
                <a:srgbClr val="1A1A2E"/>
              </a:solidFill>
              <a:ea typeface="+mn-lt"/>
              <a:cs typeface="+mn-lt"/>
            </a:endParaRPr>
          </a:p>
          <a:p>
            <a:pPr marL="171450" indent="-171450">
              <a:buFont typeface="Arial"/>
              <a:buChar char="•"/>
            </a:pPr>
            <a:r>
              <a:rPr lang="en-US" sz="1200" dirty="0">
                <a:solidFill>
                  <a:srgbClr val="1A1A2E"/>
                </a:solidFill>
                <a:latin typeface="Times New Roman"/>
                <a:ea typeface="+mn-lt"/>
                <a:cs typeface="Times New Roman"/>
              </a:rPr>
              <a:t>Key findings reveal significant differences across academic streams, with Humanities and Commerce faculty showing higher burnout levels, particularly in psychosomatic complaints and cognitive impairment.</a:t>
            </a:r>
            <a:endParaRPr lang="en-US" sz="1200" dirty="0">
              <a:latin typeface="Times New Roman"/>
              <a:ea typeface="+mn-lt"/>
              <a:cs typeface="Times New Roman"/>
            </a:endParaRPr>
          </a:p>
          <a:p>
            <a:pPr marL="171450" indent="-171450">
              <a:buFont typeface="Arial"/>
              <a:buChar char="•"/>
            </a:pPr>
            <a:endParaRPr lang="en-US" sz="1200" dirty="0">
              <a:latin typeface="Times New Roman"/>
              <a:cs typeface="Times New Roman"/>
            </a:endParaRPr>
          </a:p>
          <a:p>
            <a:pPr marL="171450" indent="-171450">
              <a:buFont typeface="Arial"/>
              <a:buChar char="•"/>
            </a:pPr>
            <a:r>
              <a:rPr lang="en-US" sz="1200" dirty="0">
                <a:solidFill>
                  <a:srgbClr val="1A1A2E"/>
                </a:solidFill>
                <a:latin typeface="Times New Roman"/>
                <a:ea typeface="+mn-lt"/>
                <a:cs typeface="Times New Roman"/>
              </a:rPr>
              <a:t>All objectives were achieved, including data cleaning, statistical analysis (Cronbach's Alpha, ANOVA, correlation), interactive dashboards in Power BI, and AI integration using Microsoft Copilot.</a:t>
            </a:r>
            <a:endParaRPr lang="en-US" sz="1200" dirty="0">
              <a:latin typeface="Times New Roman"/>
              <a:cs typeface="Times New Roman"/>
            </a:endParaRPr>
          </a:p>
          <a:p>
            <a:pPr marL="171450" indent="-171450">
              <a:buFont typeface="Arial"/>
              <a:buChar char="•"/>
            </a:pPr>
            <a:endParaRPr lang="en-US" sz="1200" dirty="0">
              <a:latin typeface="Times New Roman"/>
              <a:cs typeface="Times New Roman"/>
            </a:endParaRPr>
          </a:p>
          <a:p>
            <a:pPr marL="171450" indent="-171450">
              <a:buFont typeface="Arial"/>
              <a:buChar char="•"/>
            </a:pPr>
            <a:r>
              <a:rPr lang="en-US" sz="1200" dirty="0">
                <a:solidFill>
                  <a:srgbClr val="1A1A2E"/>
                </a:solidFill>
                <a:latin typeface="Times New Roman"/>
                <a:ea typeface="+mn-lt"/>
                <a:cs typeface="Times New Roman"/>
              </a:rPr>
              <a:t>The project adds value by providing a scalable, evidence-based model for early burnout detection, enabling institutions to implement targeted interventions such as workload management and mental health support.</a:t>
            </a:r>
            <a:endParaRPr lang="en-US" sz="1200" dirty="0">
              <a:latin typeface="Times New Roman"/>
              <a:cs typeface="Times New Roman"/>
            </a:endParaRPr>
          </a:p>
          <a:p>
            <a:pPr marL="171450" indent="-171450">
              <a:buFont typeface="Arial"/>
              <a:buChar char="•"/>
            </a:pPr>
            <a:endParaRPr lang="en-US" sz="1200" dirty="0">
              <a:latin typeface="Times New Roman"/>
              <a:cs typeface="Times New Roman"/>
            </a:endParaRPr>
          </a:p>
          <a:p>
            <a:pPr marL="171450" indent="-171450">
              <a:buFont typeface="Arial"/>
              <a:buChar char="•"/>
            </a:pPr>
            <a:r>
              <a:rPr lang="en-US" sz="1200" dirty="0">
                <a:solidFill>
                  <a:srgbClr val="1A1A2E"/>
                </a:solidFill>
                <a:latin typeface="Times New Roman"/>
                <a:ea typeface="+mn-lt"/>
                <a:cs typeface="Times New Roman"/>
              </a:rPr>
              <a:t>Overall, this work demonstrates how modern analytics and AI tools can effectively address real-world problems in the Indian higher education sector.</a:t>
            </a:r>
            <a:endParaRPr lang="en-US" sz="1200" dirty="0">
              <a:latin typeface="Times New Roman"/>
              <a:cs typeface="Times New Roman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846320" y="777240"/>
            <a:ext cx="3931920" cy="3931920"/>
          </a:xfrm>
          <a:prstGeom prst="rect">
            <a:avLst/>
          </a:prstGeom>
          <a:solidFill>
            <a:srgbClr val="F7F9FC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94960" y="1005840"/>
            <a:ext cx="2834640" cy="2834640"/>
          </a:xfrm>
          <a:prstGeom prst="ellipse">
            <a:avLst/>
          </a:prstGeom>
          <a:solidFill>
            <a:srgbClr val="1B3A8A"/>
          </a:solidFill>
          <a:ln/>
        </p:spPr>
      </p:sp>
      <p:sp>
        <p:nvSpPr>
          <p:cNvPr id="17" name="Text 15"/>
          <p:cNvSpPr/>
          <p:nvPr/>
        </p:nvSpPr>
        <p:spPr>
          <a:xfrm>
            <a:off x="5394960" y="1005840"/>
            <a:ext cx="28346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>
                <a:solidFill>
                  <a:srgbClr val="000000"/>
                </a:solidFill>
              </a:rPr>
              <a:t>✅</a:t>
            </a:r>
            <a:endParaRPr lang="en-US" sz="6000"/>
          </a:p>
        </p:txBody>
      </p:sp>
      <p:sp>
        <p:nvSpPr>
          <p:cNvPr id="18" name="Shape 16"/>
          <p:cNvSpPr/>
          <p:nvPr/>
        </p:nvSpPr>
        <p:spPr>
          <a:xfrm>
            <a:off x="5303520" y="3474720"/>
            <a:ext cx="3017520" cy="50292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9" name="Text 17"/>
          <p:cNvSpPr/>
          <p:nvPr/>
        </p:nvSpPr>
        <p:spPr>
          <a:xfrm>
            <a:off x="5303520" y="347472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kern="0" spc="2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6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8A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0" y="4572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edunet</a:t>
            </a:r>
            <a:endParaRPr lang="en-US" sz="800"/>
          </a:p>
          <a:p>
            <a:pPr marL="0" indent="0" algn="r">
              <a:buNone/>
            </a:pPr>
            <a:r>
              <a:rPr lang="en-US" sz="800" b="1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800"/>
          </a:p>
        </p:txBody>
      </p:sp>
      <p:sp>
        <p:nvSpPr>
          <p:cNvPr id="4" name="Text 2"/>
          <p:cNvSpPr/>
          <p:nvPr/>
        </p:nvSpPr>
        <p:spPr>
          <a:xfrm>
            <a:off x="320040" y="62179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220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B3A8A"/>
          </a:solidFill>
          <a:ln/>
        </p:spPr>
      </p:sp>
      <p:sp>
        <p:nvSpPr>
          <p:cNvPr id="6" name="Text 4"/>
          <p:cNvSpPr/>
          <p:nvPr/>
        </p:nvSpPr>
        <p:spPr>
          <a:xfrm>
            <a:off x="4754880" y="1234440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5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of the Project</a:t>
            </a:r>
            <a:endParaRPr lang="en-US" sz="1150"/>
          </a:p>
        </p:txBody>
      </p:sp>
      <p:sp>
        <p:nvSpPr>
          <p:cNvPr id="7" name="Text 5"/>
          <p:cNvSpPr/>
          <p:nvPr/>
        </p:nvSpPr>
        <p:spPr>
          <a:xfrm>
            <a:off x="4754880" y="1636776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5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150"/>
          </a:p>
        </p:txBody>
      </p:sp>
      <p:sp>
        <p:nvSpPr>
          <p:cNvPr id="8" name="Text 6"/>
          <p:cNvSpPr/>
          <p:nvPr/>
        </p:nvSpPr>
        <p:spPr>
          <a:xfrm>
            <a:off x="4754880" y="2039112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5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1150"/>
          </a:p>
        </p:txBody>
      </p:sp>
      <p:sp>
        <p:nvSpPr>
          <p:cNvPr id="9" name="Text 7"/>
          <p:cNvSpPr/>
          <p:nvPr/>
        </p:nvSpPr>
        <p:spPr>
          <a:xfrm>
            <a:off x="4754880" y="2441448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5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150"/>
          </a:p>
        </p:txBody>
      </p:sp>
      <p:sp>
        <p:nvSpPr>
          <p:cNvPr id="10" name="Text 8"/>
          <p:cNvSpPr/>
          <p:nvPr/>
        </p:nvSpPr>
        <p:spPr>
          <a:xfrm>
            <a:off x="4754880" y="2843784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5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of the Project</a:t>
            </a:r>
            <a:endParaRPr lang="en-US" sz="1150"/>
          </a:p>
        </p:txBody>
      </p:sp>
      <p:sp>
        <p:nvSpPr>
          <p:cNvPr id="11" name="Text 9"/>
          <p:cNvSpPr/>
          <p:nvPr/>
        </p:nvSpPr>
        <p:spPr>
          <a:xfrm>
            <a:off x="4754880" y="3246120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5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Video of Project</a:t>
            </a:r>
            <a:endParaRPr lang="en-US" sz="1150"/>
          </a:p>
        </p:txBody>
      </p:sp>
      <p:sp>
        <p:nvSpPr>
          <p:cNvPr id="12" name="Text 10"/>
          <p:cNvSpPr/>
          <p:nvPr/>
        </p:nvSpPr>
        <p:spPr>
          <a:xfrm>
            <a:off x="4754880" y="3648456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5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150"/>
          </a:p>
        </p:txBody>
      </p:sp>
      <p:sp>
        <p:nvSpPr>
          <p:cNvPr id="13" name="Text 11"/>
          <p:cNvSpPr/>
          <p:nvPr/>
        </p:nvSpPr>
        <p:spPr>
          <a:xfrm>
            <a:off x="4754880" y="4050792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Future Scope</a:t>
            </a:r>
            <a:endParaRPr lang="en-US" sz="1150"/>
          </a:p>
        </p:txBody>
      </p:sp>
      <p:sp>
        <p:nvSpPr>
          <p:cNvPr id="14" name="Text 12"/>
          <p:cNvSpPr/>
          <p:nvPr/>
        </p:nvSpPr>
        <p:spPr>
          <a:xfrm>
            <a:off x="457200" y="1234440"/>
            <a:ext cx="4114800" cy="34747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285750" indent="-285750" algn="just">
              <a:buFont typeface="Arial"/>
              <a:buChar char="•"/>
            </a:pPr>
            <a:r>
              <a:rPr lang="en-US" sz="1300" dirty="0">
                <a:solidFill>
                  <a:srgbClr val="1A1A2E"/>
                </a:solidFill>
                <a:latin typeface="Times New Roman"/>
                <a:ea typeface="+mn-lt"/>
                <a:cs typeface="Times New Roman"/>
              </a:rPr>
              <a:t>Integrate real-time data pipelines using Power Automate or APIs for live monitoring of burnout levels.</a:t>
            </a:r>
            <a:endParaRPr lang="en-US" dirty="0">
              <a:latin typeface="Times New Roman"/>
              <a:cs typeface="Times New Roman"/>
            </a:endParaRPr>
          </a:p>
          <a:p>
            <a:pPr marL="285750" indent="-285750" algn="just">
              <a:buFont typeface="Arial"/>
              <a:buChar char="•"/>
            </a:pPr>
            <a:r>
              <a:rPr lang="en-US" sz="1300" dirty="0">
                <a:solidFill>
                  <a:srgbClr val="1A1A2E"/>
                </a:solidFill>
                <a:latin typeface="Times New Roman"/>
                <a:ea typeface="+mn-lt"/>
                <a:cs typeface="Times New Roman"/>
              </a:rPr>
              <a:t>Apply machine learning techniques (predictive modeling, anomaly detection) to identify early warning signs of burnout.</a:t>
            </a:r>
            <a:endParaRPr lang="en-US" dirty="0">
              <a:latin typeface="Times New Roman"/>
              <a:cs typeface="Times New Roman"/>
            </a:endParaRPr>
          </a:p>
          <a:p>
            <a:pPr marL="285750" indent="-285750" algn="just">
              <a:buFont typeface="Arial"/>
              <a:buChar char="•"/>
            </a:pPr>
            <a:r>
              <a:rPr lang="en-US" sz="1300" dirty="0">
                <a:solidFill>
                  <a:srgbClr val="1A1A2E"/>
                </a:solidFill>
                <a:latin typeface="Times New Roman"/>
                <a:ea typeface="+mn-lt"/>
                <a:cs typeface="Times New Roman"/>
              </a:rPr>
              <a:t>Develop a web-based dashboard or Power Apps interface for non-technical administrators to access insights easily.</a:t>
            </a:r>
            <a:endParaRPr lang="en-US" dirty="0">
              <a:latin typeface="Times New Roman"/>
              <a:cs typeface="Times New Roman"/>
            </a:endParaRPr>
          </a:p>
          <a:p>
            <a:pPr marL="285750" indent="-285750" algn="just">
              <a:buFont typeface="Arial"/>
              <a:buChar char="•"/>
            </a:pPr>
            <a:r>
              <a:rPr lang="en-US" sz="1300" dirty="0">
                <a:solidFill>
                  <a:srgbClr val="1A1A2E"/>
                </a:solidFill>
                <a:latin typeface="Times New Roman"/>
                <a:ea typeface="+mn-lt"/>
                <a:cs typeface="Times New Roman"/>
              </a:rPr>
              <a:t>Expand the sample size across multiple institutions and cities for better generalizability.</a:t>
            </a:r>
            <a:endParaRPr lang="en-US" dirty="0">
              <a:latin typeface="Times New Roman"/>
              <a:cs typeface="Times New Roman"/>
            </a:endParaRPr>
          </a:p>
          <a:p>
            <a:pPr marL="285750" indent="-285750" algn="just">
              <a:buFont typeface="Arial"/>
              <a:buChar char="•"/>
            </a:pPr>
            <a:r>
              <a:rPr lang="en-US" sz="1300" dirty="0">
                <a:solidFill>
                  <a:srgbClr val="1A1A2E"/>
                </a:solidFill>
                <a:latin typeface="Times New Roman"/>
                <a:ea typeface="+mn-lt"/>
                <a:cs typeface="Times New Roman"/>
              </a:rPr>
              <a:t>Include additional variables such as job satisfaction, work-life balance, and institutional support for deeper analysis.</a:t>
            </a:r>
            <a:endParaRPr lang="en-US" dirty="0">
              <a:latin typeface="Times New Roman"/>
              <a:cs typeface="Times New Roman"/>
            </a:endParaRPr>
          </a:p>
          <a:p>
            <a:pPr marL="285750" indent="-285750" algn="just">
              <a:buFont typeface="Arial"/>
              <a:buChar char="•"/>
            </a:pPr>
            <a:r>
              <a:rPr lang="en-US" sz="1300" dirty="0">
                <a:solidFill>
                  <a:srgbClr val="1A1A2E"/>
                </a:solidFill>
                <a:latin typeface="Times New Roman"/>
                <a:ea typeface="+mn-lt"/>
                <a:cs typeface="Times New Roman"/>
              </a:rPr>
              <a:t>Implement automated reporting systems to generate periodic alerts and summaries for decision-makers.</a:t>
            </a:r>
            <a:endParaRPr lang="en-US" dirty="0"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en-US" sz="1300" dirty="0">
              <a:solidFill>
                <a:srgbClr val="1A1A2E"/>
              </a:solidFill>
              <a:ea typeface="Calibri"/>
              <a:cs typeface="Calibri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846320" y="777240"/>
            <a:ext cx="3931920" cy="3931920"/>
          </a:xfrm>
          <a:prstGeom prst="rect">
            <a:avLst/>
          </a:prstGeom>
          <a:solidFill>
            <a:srgbClr val="F7F9FC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914400"/>
            <a:ext cx="3931920" cy="3794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0" dirty="0">
                <a:solidFill>
                  <a:srgbClr val="000000"/>
                </a:solidFill>
              </a:rPr>
              <a:t>🧠</a:t>
            </a:r>
            <a:endParaRPr lang="en-US" sz="10000" dirty="0"/>
          </a:p>
        </p:txBody>
      </p:sp>
      <p:sp>
        <p:nvSpPr>
          <p:cNvPr id="17" name="Text 15"/>
          <p:cNvSpPr/>
          <p:nvPr/>
        </p:nvSpPr>
        <p:spPr>
          <a:xfrm>
            <a:off x="4846320" y="37033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[Future ideas &amp; roadmap]</a:t>
            </a:r>
            <a:endParaRPr lang="en-US" sz="1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8A"/>
          </a:solidFill>
          <a:ln/>
        </p:spPr>
      </p:sp>
      <p:sp>
        <p:nvSpPr>
          <p:cNvPr id="3" name="Text 1"/>
          <p:cNvSpPr/>
          <p:nvPr/>
        </p:nvSpPr>
        <p:spPr>
          <a:xfrm>
            <a:off x="6305973" y="45720"/>
            <a:ext cx="2746587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edunet</a:t>
            </a:r>
            <a:endParaRPr lang="en-US" sz="800"/>
          </a:p>
          <a:p>
            <a:pPr marL="0" indent="0" algn="r">
              <a:buNone/>
            </a:pPr>
            <a:r>
              <a:rPr lang="en-US" sz="800" b="1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80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7315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7200"/>
          </a:p>
        </p:txBody>
      </p:sp>
      <p:sp>
        <p:nvSpPr>
          <p:cNvPr id="5" name="Text 3"/>
          <p:cNvSpPr/>
          <p:nvPr/>
        </p:nvSpPr>
        <p:spPr>
          <a:xfrm>
            <a:off x="914400" y="30175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kern="0" spc="20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AICW Fellowship  |  Student Project Presentation 2026</a:t>
            </a:r>
            <a:endParaRPr lang="en-US" sz="1400"/>
          </a:p>
        </p:txBody>
      </p:sp>
      <p:sp>
        <p:nvSpPr>
          <p:cNvPr id="6" name="Text 4"/>
          <p:cNvSpPr/>
          <p:nvPr/>
        </p:nvSpPr>
        <p:spPr>
          <a:xfrm>
            <a:off x="914400" y="3566160"/>
            <a:ext cx="731520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07D8B"/>
                </a:solidFill>
                <a:latin typeface="Calibri"/>
                <a:ea typeface="Calibri"/>
                <a:cs typeface="Calibri"/>
              </a:rPr>
              <a:t>  LinkedIn  |   Edunet Foundation</a:t>
            </a:r>
            <a:endParaRPr lang="en-US" sz="1100"/>
          </a:p>
        </p:txBody>
      </p:sp>
      <p:sp>
        <p:nvSpPr>
          <p:cNvPr id="7" name="Shape 5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B3A8A"/>
          </a:solidFill>
          <a:ln/>
        </p:spPr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811</TotalTime>
  <Words>1025</Words>
  <Application>Microsoft Office PowerPoint</Application>
  <PresentationFormat>On-screen Show (16:9)</PresentationFormat>
  <Paragraphs>133</Paragraphs>
  <Slides>11</Slides>
  <Notes>11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AICW Student Project Presentation Template 2026</dc:title>
  <dc:subject>PptxGenJS Presentation</dc:subject>
  <dc:creator>PptxGenJS</dc:creator>
  <cp:lastModifiedBy>Kritika</cp:lastModifiedBy>
  <cp:revision>137</cp:revision>
  <dcterms:created xsi:type="dcterms:W3CDTF">2026-02-18T09:17:23Z</dcterms:created>
  <dcterms:modified xsi:type="dcterms:W3CDTF">2026-04-15T16:28:10Z</dcterms:modified>
</cp:coreProperties>
</file>